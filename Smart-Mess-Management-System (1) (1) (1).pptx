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4630400" cy="8229600"/>
  <p:notesSz cx="14630400" cy="8229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jp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4.jpg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5.jp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630400" cy="82295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838176" y="7749540"/>
            <a:ext cx="1723643" cy="411480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14630400" y="0"/>
                </a:moveTo>
                <a:lnTo>
                  <a:pt x="0" y="0"/>
                </a:lnTo>
                <a:lnTo>
                  <a:pt x="0" y="8229600"/>
                </a:lnTo>
                <a:lnTo>
                  <a:pt x="14630400" y="8229600"/>
                </a:lnTo>
                <a:lnTo>
                  <a:pt x="14630400" y="0"/>
                </a:lnTo>
                <a:close/>
              </a:path>
            </a:pathLst>
          </a:custGeom>
          <a:solidFill>
            <a:srgbClr val="09081B">
              <a:alpha val="74900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44000" y="0"/>
            <a:ext cx="5486400" cy="82295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1712" y="2776890"/>
            <a:ext cx="6543675" cy="1398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950" b="1" i="0">
                <a:solidFill>
                  <a:srgbClr val="EFFBFF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94560" y="4608576"/>
            <a:ext cx="10241280" cy="205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50" b="0" i="0">
                <a:solidFill>
                  <a:srgbClr val="DFE3E6"/>
                </a:solidFill>
                <a:latin typeface="Malgun Gothic Semilight"/>
                <a:cs typeface="Malgun Gothic Semiligh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950" b="1" i="0">
                <a:solidFill>
                  <a:srgbClr val="EFFBFF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50" b="0" i="0">
                <a:solidFill>
                  <a:srgbClr val="DFE3E6"/>
                </a:solidFill>
                <a:latin typeface="Malgun Gothic Semilight"/>
                <a:cs typeface="Malgun Gothic Semiligh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630400" cy="82295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838176" y="7749540"/>
            <a:ext cx="1723643" cy="411480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14630400" y="0"/>
                </a:moveTo>
                <a:lnTo>
                  <a:pt x="0" y="0"/>
                </a:lnTo>
                <a:lnTo>
                  <a:pt x="0" y="8229600"/>
                </a:lnTo>
                <a:lnTo>
                  <a:pt x="14630400" y="8229600"/>
                </a:lnTo>
                <a:lnTo>
                  <a:pt x="14630400" y="0"/>
                </a:lnTo>
                <a:close/>
              </a:path>
            </a:pathLst>
          </a:custGeom>
          <a:solidFill>
            <a:srgbClr val="09081B">
              <a:alpha val="74900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44000" y="0"/>
            <a:ext cx="5486400" cy="82295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950" b="1" i="0">
                <a:solidFill>
                  <a:srgbClr val="EFFBFF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731520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7534656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950" b="1" i="0">
                <a:solidFill>
                  <a:srgbClr val="EFFBFF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630400" cy="82295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838176" y="7749540"/>
            <a:ext cx="1723643" cy="411480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14630400" y="0"/>
                </a:moveTo>
                <a:lnTo>
                  <a:pt x="0" y="0"/>
                </a:lnTo>
                <a:lnTo>
                  <a:pt x="0" y="8229600"/>
                </a:lnTo>
                <a:lnTo>
                  <a:pt x="14630400" y="8229600"/>
                </a:lnTo>
                <a:lnTo>
                  <a:pt x="14630400" y="0"/>
                </a:lnTo>
                <a:close/>
              </a:path>
            </a:pathLst>
          </a:custGeom>
          <a:solidFill>
            <a:srgbClr val="09081B">
              <a:alpha val="74900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44000" y="0"/>
            <a:ext cx="5486400" cy="82295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Relationship Id="rId8" Type="http://schemas.openxmlformats.org/officeDocument/2006/relationships/image" Target="../media/image2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4630400" cy="82295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838176" y="7749540"/>
            <a:ext cx="1723643" cy="411480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14630400" y="0"/>
                </a:moveTo>
                <a:lnTo>
                  <a:pt x="0" y="0"/>
                </a:lnTo>
                <a:lnTo>
                  <a:pt x="0" y="8229600"/>
                </a:lnTo>
                <a:lnTo>
                  <a:pt x="14630400" y="8229600"/>
                </a:lnTo>
                <a:lnTo>
                  <a:pt x="14630400" y="0"/>
                </a:lnTo>
                <a:close/>
              </a:path>
            </a:pathLst>
          </a:custGeom>
          <a:solidFill>
            <a:srgbClr val="09081B">
              <a:alpha val="749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24585" y="592074"/>
            <a:ext cx="10564012" cy="20021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950" b="1" i="0">
                <a:solidFill>
                  <a:srgbClr val="EFFBFF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233031" y="1774063"/>
            <a:ext cx="6520180" cy="56622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50" b="0" i="0">
                <a:solidFill>
                  <a:srgbClr val="DFE3E6"/>
                </a:solidFill>
                <a:latin typeface="Malgun Gothic Semilight"/>
                <a:cs typeface="Malgun Gothic Semiligh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0533888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Relationship Id="rId3" Type="http://schemas.openxmlformats.org/officeDocument/2006/relationships/image" Target="../media/image7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Relationship Id="rId3" Type="http://schemas.openxmlformats.org/officeDocument/2006/relationships/image" Target="../media/image7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7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archtitans67-code/smart-mess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6000"/>
              </a:lnSpc>
              <a:spcBef>
                <a:spcPts val="90"/>
              </a:spcBef>
              <a:tabLst>
                <a:tab pos="3206750" algn="l"/>
              </a:tabLst>
            </a:pPr>
            <a:r>
              <a:rPr dirty="0" sz="4250" spc="200" b="0">
                <a:latin typeface="Malgun Gothic Semilight"/>
                <a:cs typeface="Malgun Gothic Semilight"/>
              </a:rPr>
              <a:t>Smart</a:t>
            </a:r>
            <a:r>
              <a:rPr dirty="0" sz="4250" spc="85" b="0">
                <a:latin typeface="Malgun Gothic Semilight"/>
                <a:cs typeface="Malgun Gothic Semilight"/>
              </a:rPr>
              <a:t> </a:t>
            </a:r>
            <a:r>
              <a:rPr dirty="0" sz="4250" spc="110" b="0">
                <a:latin typeface="Malgun Gothic Semilight"/>
                <a:cs typeface="Malgun Gothic Semilight"/>
              </a:rPr>
              <a:t>Mess</a:t>
            </a:r>
            <a:r>
              <a:rPr dirty="0" sz="4250" b="0">
                <a:latin typeface="Malgun Gothic Semilight"/>
                <a:cs typeface="Malgun Gothic Semilight"/>
              </a:rPr>
              <a:t>	</a:t>
            </a:r>
            <a:r>
              <a:rPr dirty="0" sz="4250" spc="105" b="0">
                <a:latin typeface="Malgun Gothic Semilight"/>
                <a:cs typeface="Malgun Gothic Semilight"/>
              </a:rPr>
              <a:t>Management </a:t>
            </a:r>
            <a:r>
              <a:rPr dirty="0" sz="4250" spc="270" b="0">
                <a:latin typeface="Malgun Gothic Semilight"/>
                <a:cs typeface="Malgun Gothic Semilight"/>
              </a:rPr>
              <a:t>Sys</a:t>
            </a:r>
            <a:r>
              <a:rPr dirty="0" sz="4250" spc="-595" b="0">
                <a:latin typeface="Malgun Gothic Semilight"/>
                <a:cs typeface="Malgun Gothic Semilight"/>
              </a:rPr>
              <a:t> </a:t>
            </a:r>
            <a:r>
              <a:rPr dirty="0" sz="4250" spc="40" b="0">
                <a:latin typeface="Malgun Gothic Semilight"/>
                <a:cs typeface="Malgun Gothic Semilight"/>
              </a:rPr>
              <a:t>tem</a:t>
            </a:r>
            <a:endParaRPr sz="4250">
              <a:latin typeface="Malgun Gothic Semilight"/>
              <a:cs typeface="Malgun Gothic Semiligh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851712" y="4532833"/>
            <a:ext cx="7278370" cy="812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5900"/>
              </a:lnSpc>
              <a:spcBef>
                <a:spcPts val="95"/>
              </a:spcBef>
            </a:pPr>
            <a:r>
              <a:rPr dirty="0" sz="1900">
                <a:solidFill>
                  <a:srgbClr val="DFE3E6"/>
                </a:solidFill>
                <a:latin typeface="Tahoma"/>
                <a:cs typeface="Tahoma"/>
              </a:rPr>
              <a:t>Smarter</a:t>
            </a:r>
            <a:r>
              <a:rPr dirty="0" sz="1900" spc="-165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 spc="-25">
                <a:solidFill>
                  <a:srgbClr val="DFE3E6"/>
                </a:solidFill>
                <a:latin typeface="Tahoma"/>
                <a:cs typeface="Tahoma"/>
              </a:rPr>
              <a:t>meal</a:t>
            </a:r>
            <a:r>
              <a:rPr dirty="0" sz="1900" spc="-195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 spc="-20">
                <a:solidFill>
                  <a:srgbClr val="DFE3E6"/>
                </a:solidFill>
                <a:latin typeface="Tahoma"/>
                <a:cs typeface="Tahoma"/>
              </a:rPr>
              <a:t>planning</a:t>
            </a:r>
            <a:r>
              <a:rPr dirty="0" sz="1900" spc="-245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DFE3E6"/>
                </a:solidFill>
                <a:latin typeface="Tahoma"/>
                <a:cs typeface="Tahoma"/>
              </a:rPr>
              <a:t>that</a:t>
            </a:r>
            <a:r>
              <a:rPr dirty="0" sz="1900" spc="-200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DFE3E6"/>
                </a:solidFill>
                <a:latin typeface="Tahoma"/>
                <a:cs typeface="Tahoma"/>
              </a:rPr>
              <a:t>cuts</a:t>
            </a:r>
            <a:r>
              <a:rPr dirty="0" sz="1900" spc="-170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DFE3E6"/>
                </a:solidFill>
                <a:latin typeface="Tahoma"/>
                <a:cs typeface="Tahoma"/>
              </a:rPr>
              <a:t>waste,</a:t>
            </a:r>
            <a:r>
              <a:rPr dirty="0" sz="1900" spc="-185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DFE3E6"/>
                </a:solidFill>
                <a:latin typeface="Tahoma"/>
                <a:cs typeface="Tahoma"/>
              </a:rPr>
              <a:t>saves</a:t>
            </a:r>
            <a:r>
              <a:rPr dirty="0" sz="1900" spc="-210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 spc="-45">
                <a:solidFill>
                  <a:srgbClr val="DFE3E6"/>
                </a:solidFill>
                <a:latin typeface="Tahoma"/>
                <a:cs typeface="Tahoma"/>
              </a:rPr>
              <a:t>money,</a:t>
            </a:r>
            <a:r>
              <a:rPr dirty="0" sz="1900" spc="-185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 spc="-30">
                <a:solidFill>
                  <a:srgbClr val="DFE3E6"/>
                </a:solidFill>
                <a:latin typeface="Tahoma"/>
                <a:cs typeface="Tahoma"/>
              </a:rPr>
              <a:t>and</a:t>
            </a:r>
            <a:r>
              <a:rPr dirty="0" sz="1900" spc="-185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DFE3E6"/>
                </a:solidFill>
                <a:latin typeface="Tahoma"/>
                <a:cs typeface="Tahoma"/>
              </a:rPr>
              <a:t>keeps</a:t>
            </a:r>
            <a:r>
              <a:rPr dirty="0" sz="1900" spc="-204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DFE3E6"/>
                </a:solidFill>
                <a:latin typeface="Tahoma"/>
                <a:cs typeface="Tahoma"/>
              </a:rPr>
              <a:t>every plate</a:t>
            </a:r>
            <a:r>
              <a:rPr dirty="0" sz="1900" spc="-165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DFE3E6"/>
                </a:solidFill>
                <a:latin typeface="Tahoma"/>
                <a:cs typeface="Tahoma"/>
              </a:rPr>
              <a:t>full</a:t>
            </a:r>
            <a:r>
              <a:rPr dirty="0" sz="1900" spc="-165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DFE3E6"/>
                </a:solidFill>
                <a:latin typeface="Tahoma"/>
                <a:cs typeface="Tahoma"/>
              </a:rPr>
              <a:t>with</a:t>
            </a:r>
            <a:r>
              <a:rPr dirty="0" sz="1900" spc="-215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DFE3E6"/>
                </a:solidFill>
                <a:latin typeface="Tahoma"/>
                <a:cs typeface="Tahoma"/>
              </a:rPr>
              <a:t>less</a:t>
            </a:r>
            <a:r>
              <a:rPr dirty="0" sz="1900" spc="-175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DFE3E6"/>
                </a:solidFill>
                <a:latin typeface="Tahoma"/>
                <a:cs typeface="Tahoma"/>
              </a:rPr>
              <a:t>hassle</a:t>
            </a:r>
            <a:r>
              <a:rPr dirty="0" sz="1900" spc="-240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 spc="-30">
                <a:solidFill>
                  <a:srgbClr val="DFE3E6"/>
                </a:solidFill>
                <a:latin typeface="Tahoma"/>
                <a:cs typeface="Tahoma"/>
              </a:rPr>
              <a:t>and</a:t>
            </a:r>
            <a:r>
              <a:rPr dirty="0" sz="1900" spc="-229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DFE3E6"/>
                </a:solidFill>
                <a:latin typeface="Tahoma"/>
                <a:cs typeface="Tahoma"/>
              </a:rPr>
              <a:t>more</a:t>
            </a:r>
            <a:r>
              <a:rPr dirty="0" sz="1900" spc="-165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DFE3E6"/>
                </a:solidFill>
                <a:latin typeface="Tahoma"/>
                <a:cs typeface="Tahoma"/>
              </a:rPr>
              <a:t>impact.</a:t>
            </a:r>
            <a:endParaRPr sz="19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1712" y="864143"/>
            <a:ext cx="6526530" cy="139827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5900"/>
              </a:lnSpc>
              <a:spcBef>
                <a:spcPts val="95"/>
              </a:spcBef>
            </a:pPr>
            <a:r>
              <a:rPr dirty="0" sz="4250"/>
              <a:t>The</a:t>
            </a:r>
            <a:r>
              <a:rPr dirty="0" sz="4250" spc="-55"/>
              <a:t> </a:t>
            </a:r>
            <a:r>
              <a:rPr dirty="0" sz="4250"/>
              <a:t>Food</a:t>
            </a:r>
            <a:r>
              <a:rPr dirty="0" sz="4250" spc="-60"/>
              <a:t> </a:t>
            </a:r>
            <a:r>
              <a:rPr dirty="0" sz="4250"/>
              <a:t>Waste</a:t>
            </a:r>
            <a:r>
              <a:rPr dirty="0" sz="4250" spc="90"/>
              <a:t> </a:t>
            </a:r>
            <a:r>
              <a:rPr dirty="0" sz="4250"/>
              <a:t>Crisis</a:t>
            </a:r>
            <a:r>
              <a:rPr dirty="0" sz="4250" spc="45"/>
              <a:t> </a:t>
            </a:r>
            <a:r>
              <a:rPr dirty="0" sz="4250" spc="-35"/>
              <a:t>in </a:t>
            </a:r>
            <a:r>
              <a:rPr dirty="0" sz="4250"/>
              <a:t>Institutional</a:t>
            </a:r>
            <a:r>
              <a:rPr dirty="0" sz="4250" spc="165"/>
              <a:t> </a:t>
            </a:r>
            <a:r>
              <a:rPr dirty="0" sz="4250" spc="-10"/>
              <a:t>Kitchens</a:t>
            </a:r>
            <a:endParaRPr sz="4250"/>
          </a:p>
        </p:txBody>
      </p:sp>
      <p:sp>
        <p:nvSpPr>
          <p:cNvPr id="3" name="object 3" descr=""/>
          <p:cNvSpPr txBox="1"/>
          <p:nvPr/>
        </p:nvSpPr>
        <p:spPr>
          <a:xfrm>
            <a:off x="851712" y="2896361"/>
            <a:ext cx="1900555" cy="3549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150" b="1">
                <a:solidFill>
                  <a:srgbClr val="EFFBFF"/>
                </a:solidFill>
                <a:latin typeface="Arial"/>
                <a:cs typeface="Arial"/>
              </a:rPr>
              <a:t>The</a:t>
            </a:r>
            <a:r>
              <a:rPr dirty="0" sz="2150" spc="-15" b="1">
                <a:solidFill>
                  <a:srgbClr val="EFFBFF"/>
                </a:solidFill>
                <a:latin typeface="Arial"/>
                <a:cs typeface="Arial"/>
              </a:rPr>
              <a:t> </a:t>
            </a:r>
            <a:r>
              <a:rPr dirty="0" sz="2150" spc="-10" b="1">
                <a:solidFill>
                  <a:srgbClr val="EFFBFF"/>
                </a:solidFill>
                <a:latin typeface="Arial"/>
                <a:cs typeface="Arial"/>
              </a:rPr>
              <a:t>Challenge</a:t>
            </a:r>
            <a:endParaRPr sz="215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51712" y="3457575"/>
            <a:ext cx="3406775" cy="317246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5900"/>
              </a:lnSpc>
              <a:spcBef>
                <a:spcPts val="90"/>
              </a:spcBef>
            </a:pPr>
            <a:r>
              <a:rPr dirty="0" sz="1900" spc="-10">
                <a:solidFill>
                  <a:srgbClr val="DFE3E6"/>
                </a:solidFill>
                <a:latin typeface="Tahoma"/>
                <a:cs typeface="Tahoma"/>
              </a:rPr>
              <a:t>College</a:t>
            </a:r>
            <a:r>
              <a:rPr dirty="0" sz="1900" spc="-130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DFE3E6"/>
                </a:solidFill>
                <a:latin typeface="Tahoma"/>
                <a:cs typeface="Tahoma"/>
              </a:rPr>
              <a:t>messes</a:t>
            </a:r>
            <a:r>
              <a:rPr dirty="0" sz="1900" spc="-220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 spc="-30">
                <a:solidFill>
                  <a:srgbClr val="DFE3E6"/>
                </a:solidFill>
                <a:latin typeface="Tahoma"/>
                <a:cs typeface="Tahoma"/>
              </a:rPr>
              <a:t>and</a:t>
            </a:r>
            <a:r>
              <a:rPr dirty="0" sz="1900" spc="-160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DFE3E6"/>
                </a:solidFill>
                <a:latin typeface="Tahoma"/>
                <a:cs typeface="Tahoma"/>
              </a:rPr>
              <a:t>institutional </a:t>
            </a:r>
            <a:r>
              <a:rPr dirty="0" sz="1900">
                <a:solidFill>
                  <a:srgbClr val="DFE3E6"/>
                </a:solidFill>
                <a:latin typeface="Tahoma"/>
                <a:cs typeface="Tahoma"/>
              </a:rPr>
              <a:t>kitchens</a:t>
            </a:r>
            <a:r>
              <a:rPr dirty="0" sz="1900" spc="-210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DFE3E6"/>
                </a:solidFill>
                <a:latin typeface="Tahoma"/>
                <a:cs typeface="Tahoma"/>
              </a:rPr>
              <a:t>face</a:t>
            </a:r>
            <a:r>
              <a:rPr dirty="0" sz="1900" spc="-85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 spc="-40">
                <a:solidFill>
                  <a:srgbClr val="DFE3E6"/>
                </a:solidFill>
                <a:latin typeface="Tahoma"/>
                <a:cs typeface="Tahoma"/>
              </a:rPr>
              <a:t>an</a:t>
            </a:r>
            <a:r>
              <a:rPr dirty="0" sz="1900" spc="-60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DFE3E6"/>
                </a:solidFill>
                <a:latin typeface="Tahoma"/>
                <a:cs typeface="Tahoma"/>
              </a:rPr>
              <a:t>unpredictable challenge</a:t>
            </a:r>
            <a:r>
              <a:rPr dirty="0" sz="1900" spc="-195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 spc="-30">
                <a:solidFill>
                  <a:srgbClr val="DFE3E6"/>
                </a:solidFill>
                <a:latin typeface="Tahoma"/>
                <a:cs typeface="Tahoma"/>
              </a:rPr>
              <a:t>daily.</a:t>
            </a:r>
            <a:r>
              <a:rPr dirty="0" sz="1900" spc="-210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DFE3E6"/>
                </a:solidFill>
                <a:latin typeface="Tahoma"/>
                <a:cs typeface="Tahoma"/>
              </a:rPr>
              <a:t>Student </a:t>
            </a:r>
            <a:r>
              <a:rPr dirty="0" sz="1900">
                <a:solidFill>
                  <a:srgbClr val="DFE3E6"/>
                </a:solidFill>
                <a:latin typeface="Tahoma"/>
                <a:cs typeface="Tahoma"/>
              </a:rPr>
              <a:t>attendance</a:t>
            </a:r>
            <a:r>
              <a:rPr dirty="0" sz="1900" spc="-229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DFE3E6"/>
                </a:solidFill>
                <a:latin typeface="Tahoma"/>
                <a:cs typeface="Tahoma"/>
              </a:rPr>
              <a:t>for</a:t>
            </a:r>
            <a:r>
              <a:rPr dirty="0" sz="1900" spc="-190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DFE3E6"/>
                </a:solidFill>
                <a:latin typeface="Tahoma"/>
                <a:cs typeface="Tahoma"/>
              </a:rPr>
              <a:t>meals</a:t>
            </a:r>
            <a:r>
              <a:rPr dirty="0" sz="1900" spc="-155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DFE3E6"/>
                </a:solidFill>
                <a:latin typeface="Tahoma"/>
                <a:cs typeface="Tahoma"/>
              </a:rPr>
              <a:t>varies dramatically</a:t>
            </a:r>
            <a:r>
              <a:rPr dirty="0" sz="1900" spc="-100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DFE3E6"/>
                </a:solidFill>
                <a:latin typeface="Tahoma"/>
                <a:cs typeface="Tahoma"/>
              </a:rPr>
              <a:t>across</a:t>
            </a:r>
            <a:r>
              <a:rPr dirty="0" sz="1900" spc="-85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DFE3E6"/>
                </a:solidFill>
                <a:latin typeface="Tahoma"/>
                <a:cs typeface="Tahoma"/>
              </a:rPr>
              <a:t>breakfast, </a:t>
            </a:r>
            <a:r>
              <a:rPr dirty="0" sz="1900" spc="-20">
                <a:solidFill>
                  <a:srgbClr val="DFE3E6"/>
                </a:solidFill>
                <a:latin typeface="Tahoma"/>
                <a:cs typeface="Tahoma"/>
              </a:rPr>
              <a:t>lunch,</a:t>
            </a:r>
            <a:r>
              <a:rPr dirty="0" sz="1900" spc="-240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 spc="-30">
                <a:solidFill>
                  <a:srgbClr val="DFE3E6"/>
                </a:solidFill>
                <a:latin typeface="Tahoma"/>
                <a:cs typeface="Tahoma"/>
              </a:rPr>
              <a:t>and</a:t>
            </a:r>
            <a:r>
              <a:rPr dirty="0" sz="1900" spc="-195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DFE3E6"/>
                </a:solidFill>
                <a:latin typeface="Tahoma"/>
                <a:cs typeface="Tahoma"/>
              </a:rPr>
              <a:t>dinner</a:t>
            </a:r>
            <a:r>
              <a:rPr dirty="0" sz="1900" spc="-250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DFE3E6"/>
                </a:solidFill>
                <a:latin typeface="Tahoma"/>
                <a:cs typeface="Tahoma"/>
              </a:rPr>
              <a:t>periods, making</a:t>
            </a:r>
            <a:r>
              <a:rPr dirty="0" sz="1900" spc="-215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 spc="55">
                <a:solidFill>
                  <a:srgbClr val="DFE3E6"/>
                </a:solidFill>
                <a:latin typeface="Tahoma"/>
                <a:cs typeface="Tahoma"/>
              </a:rPr>
              <a:t>it</a:t>
            </a:r>
            <a:r>
              <a:rPr dirty="0" sz="1900" spc="-165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 spc="-35">
                <a:solidFill>
                  <a:srgbClr val="DFE3E6"/>
                </a:solidFill>
                <a:latin typeface="Tahoma"/>
                <a:cs typeface="Tahoma"/>
              </a:rPr>
              <a:t>nearly</a:t>
            </a:r>
            <a:r>
              <a:rPr dirty="0" sz="1900" spc="-175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DFE3E6"/>
                </a:solidFill>
                <a:latin typeface="Tahoma"/>
                <a:cs typeface="Tahoma"/>
              </a:rPr>
              <a:t>impossible</a:t>
            </a:r>
            <a:r>
              <a:rPr dirty="0" sz="1900" spc="-215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 spc="-25">
                <a:solidFill>
                  <a:srgbClr val="DFE3E6"/>
                </a:solidFill>
                <a:latin typeface="Tahoma"/>
                <a:cs typeface="Tahoma"/>
              </a:rPr>
              <a:t>to </a:t>
            </a:r>
            <a:r>
              <a:rPr dirty="0" sz="1900" spc="-30">
                <a:solidFill>
                  <a:srgbClr val="DFE3E6"/>
                </a:solidFill>
                <a:latin typeface="Tahoma"/>
                <a:cs typeface="Tahoma"/>
              </a:rPr>
              <a:t>plan</a:t>
            </a:r>
            <a:r>
              <a:rPr dirty="0" sz="1900" spc="-150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DFE3E6"/>
                </a:solidFill>
                <a:latin typeface="Tahoma"/>
                <a:cs typeface="Tahoma"/>
              </a:rPr>
              <a:t>portions</a:t>
            </a:r>
            <a:r>
              <a:rPr dirty="0" sz="1900" spc="-185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DFE3E6"/>
                </a:solidFill>
                <a:latin typeface="Tahoma"/>
                <a:cs typeface="Tahoma"/>
              </a:rPr>
              <a:t>accurately.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869560" y="2896361"/>
            <a:ext cx="2513330" cy="3549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150" b="1">
                <a:solidFill>
                  <a:srgbClr val="EFFBFF"/>
                </a:solidFill>
                <a:latin typeface="Arial"/>
                <a:cs typeface="Arial"/>
              </a:rPr>
              <a:t>The</a:t>
            </a:r>
            <a:r>
              <a:rPr dirty="0" sz="2150" spc="-15" b="1">
                <a:solidFill>
                  <a:srgbClr val="EFFBFF"/>
                </a:solidFill>
                <a:latin typeface="Arial"/>
                <a:cs typeface="Arial"/>
              </a:rPr>
              <a:t> </a:t>
            </a:r>
            <a:r>
              <a:rPr dirty="0" sz="2150" spc="-10" b="1">
                <a:solidFill>
                  <a:srgbClr val="EFFBFF"/>
                </a:solidFill>
                <a:latin typeface="Arial"/>
                <a:cs typeface="Arial"/>
              </a:rPr>
              <a:t>Consequences</a:t>
            </a:r>
            <a:endParaRPr sz="215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869560" y="3457575"/>
            <a:ext cx="3194050" cy="35655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5900"/>
              </a:lnSpc>
              <a:spcBef>
                <a:spcPts val="90"/>
              </a:spcBef>
            </a:pPr>
            <a:r>
              <a:rPr dirty="0" sz="1900">
                <a:solidFill>
                  <a:srgbClr val="DFE3E6"/>
                </a:solidFill>
                <a:latin typeface="Tahoma"/>
                <a:cs typeface="Tahoma"/>
              </a:rPr>
              <a:t>This</a:t>
            </a:r>
            <a:r>
              <a:rPr dirty="0" sz="1900" spc="-229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DFE3E6"/>
                </a:solidFill>
                <a:latin typeface="Tahoma"/>
                <a:cs typeface="Tahoma"/>
              </a:rPr>
              <a:t>uncertainty</a:t>
            </a:r>
            <a:r>
              <a:rPr dirty="0" sz="1900" spc="-254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DFE3E6"/>
                </a:solidFill>
                <a:latin typeface="Tahoma"/>
                <a:cs typeface="Tahoma"/>
              </a:rPr>
              <a:t>leads</a:t>
            </a:r>
            <a:r>
              <a:rPr dirty="0" sz="1900" spc="-190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 spc="-25">
                <a:solidFill>
                  <a:srgbClr val="DFE3E6"/>
                </a:solidFill>
                <a:latin typeface="Tahoma"/>
                <a:cs typeface="Tahoma"/>
              </a:rPr>
              <a:t>to </a:t>
            </a:r>
            <a:r>
              <a:rPr dirty="0" sz="1900">
                <a:solidFill>
                  <a:srgbClr val="DFE3E6"/>
                </a:solidFill>
                <a:latin typeface="Tahoma"/>
                <a:cs typeface="Tahoma"/>
              </a:rPr>
              <a:t>massive</a:t>
            </a:r>
            <a:r>
              <a:rPr dirty="0" sz="1900" spc="-170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DFE3E6"/>
                </a:solidFill>
                <a:latin typeface="Tahoma"/>
                <a:cs typeface="Tahoma"/>
              </a:rPr>
              <a:t>overproduction. </a:t>
            </a:r>
            <a:r>
              <a:rPr dirty="0" sz="1900">
                <a:solidFill>
                  <a:srgbClr val="DFE3E6"/>
                </a:solidFill>
                <a:latin typeface="Tahoma"/>
                <a:cs typeface="Tahoma"/>
              </a:rPr>
              <a:t>Kitchens</a:t>
            </a:r>
            <a:r>
              <a:rPr dirty="0" sz="1900" spc="-25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DFE3E6"/>
                </a:solidFill>
                <a:latin typeface="Tahoma"/>
                <a:cs typeface="Tahoma"/>
              </a:rPr>
              <a:t>consistently</a:t>
            </a:r>
            <a:r>
              <a:rPr dirty="0" sz="1900" spc="-85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 spc="-20">
                <a:solidFill>
                  <a:srgbClr val="DFE3E6"/>
                </a:solidFill>
                <a:latin typeface="Tahoma"/>
                <a:cs typeface="Tahoma"/>
              </a:rPr>
              <a:t>cook </a:t>
            </a:r>
            <a:r>
              <a:rPr dirty="0" sz="1900" spc="-10">
                <a:solidFill>
                  <a:srgbClr val="DFE3E6"/>
                </a:solidFill>
                <a:latin typeface="Tahoma"/>
                <a:cs typeface="Tahoma"/>
              </a:rPr>
              <a:t>more</a:t>
            </a:r>
            <a:r>
              <a:rPr dirty="0" sz="1900" spc="-220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 spc="-20">
                <a:solidFill>
                  <a:srgbClr val="DFE3E6"/>
                </a:solidFill>
                <a:latin typeface="Tahoma"/>
                <a:cs typeface="Tahoma"/>
              </a:rPr>
              <a:t>than</a:t>
            </a:r>
            <a:r>
              <a:rPr dirty="0" sz="1900" spc="-195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 spc="-25">
                <a:solidFill>
                  <a:srgbClr val="DFE3E6"/>
                </a:solidFill>
                <a:latin typeface="Tahoma"/>
                <a:cs typeface="Tahoma"/>
              </a:rPr>
              <a:t>needed,</a:t>
            </a:r>
            <a:r>
              <a:rPr dirty="0" sz="1900" spc="-204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DFE3E6"/>
                </a:solidFill>
                <a:latin typeface="Tahoma"/>
                <a:cs typeface="Tahoma"/>
              </a:rPr>
              <a:t>resulting</a:t>
            </a:r>
            <a:r>
              <a:rPr dirty="0" sz="1900" spc="-265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 spc="-25">
                <a:solidFill>
                  <a:srgbClr val="DFE3E6"/>
                </a:solidFill>
                <a:latin typeface="Tahoma"/>
                <a:cs typeface="Tahoma"/>
              </a:rPr>
              <a:t>in </a:t>
            </a:r>
            <a:r>
              <a:rPr dirty="0" sz="1900">
                <a:solidFill>
                  <a:srgbClr val="DFE3E6"/>
                </a:solidFill>
                <a:latin typeface="Tahoma"/>
                <a:cs typeface="Tahoma"/>
              </a:rPr>
              <a:t>severe</a:t>
            </a:r>
            <a:r>
              <a:rPr dirty="0" sz="1900" spc="-85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DFE3E6"/>
                </a:solidFill>
                <a:latin typeface="Tahoma"/>
                <a:cs typeface="Tahoma"/>
              </a:rPr>
              <a:t>financial</a:t>
            </a:r>
            <a:r>
              <a:rPr dirty="0" sz="1900" spc="-190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DFE3E6"/>
                </a:solidFill>
                <a:latin typeface="Tahoma"/>
                <a:cs typeface="Tahoma"/>
              </a:rPr>
              <a:t>losses</a:t>
            </a:r>
            <a:r>
              <a:rPr dirty="0" sz="1900" spc="-100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 spc="-25">
                <a:solidFill>
                  <a:srgbClr val="DFE3E6"/>
                </a:solidFill>
                <a:latin typeface="Tahoma"/>
                <a:cs typeface="Tahoma"/>
              </a:rPr>
              <a:t>for </a:t>
            </a:r>
            <a:r>
              <a:rPr dirty="0" sz="1900">
                <a:solidFill>
                  <a:srgbClr val="DFE3E6"/>
                </a:solidFill>
                <a:latin typeface="Tahoma"/>
                <a:cs typeface="Tahoma"/>
              </a:rPr>
              <a:t>institutions</a:t>
            </a:r>
            <a:r>
              <a:rPr dirty="0" sz="1900" spc="-195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 spc="-30">
                <a:solidFill>
                  <a:srgbClr val="DFE3E6"/>
                </a:solidFill>
                <a:latin typeface="Tahoma"/>
                <a:cs typeface="Tahoma"/>
              </a:rPr>
              <a:t>and</a:t>
            </a:r>
            <a:r>
              <a:rPr dirty="0" sz="1900" spc="-65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DFE3E6"/>
                </a:solidFill>
                <a:latin typeface="Tahoma"/>
                <a:cs typeface="Tahoma"/>
              </a:rPr>
              <a:t>creating</a:t>
            </a:r>
            <a:r>
              <a:rPr dirty="0" sz="1900" spc="-135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 spc="-50">
                <a:solidFill>
                  <a:srgbClr val="DFE3E6"/>
                </a:solidFill>
                <a:latin typeface="Tahoma"/>
                <a:cs typeface="Tahoma"/>
              </a:rPr>
              <a:t>a </a:t>
            </a:r>
            <a:r>
              <a:rPr dirty="0" sz="1900" spc="10">
                <a:solidFill>
                  <a:srgbClr val="DFE3E6"/>
                </a:solidFill>
                <a:latin typeface="Tahoma"/>
                <a:cs typeface="Tahoma"/>
              </a:rPr>
              <a:t>significant</a:t>
            </a:r>
            <a:r>
              <a:rPr dirty="0" sz="1900" spc="-80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DFE3E6"/>
                </a:solidFill>
                <a:latin typeface="Tahoma"/>
                <a:cs typeface="Tahoma"/>
              </a:rPr>
              <a:t>environmental </a:t>
            </a:r>
            <a:r>
              <a:rPr dirty="0" sz="1900">
                <a:solidFill>
                  <a:srgbClr val="DFE3E6"/>
                </a:solidFill>
                <a:latin typeface="Tahoma"/>
                <a:cs typeface="Tahoma"/>
              </a:rPr>
              <a:t>footprint</a:t>
            </a:r>
            <a:r>
              <a:rPr dirty="0" sz="1900" spc="-175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DFE3E6"/>
                </a:solidFill>
                <a:latin typeface="Tahoma"/>
                <a:cs typeface="Tahoma"/>
              </a:rPr>
              <a:t>that</a:t>
            </a:r>
            <a:r>
              <a:rPr dirty="0" sz="1900" spc="-130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DFE3E6"/>
                </a:solidFill>
                <a:latin typeface="Tahoma"/>
                <a:cs typeface="Tahoma"/>
              </a:rPr>
              <a:t>contradicts </a:t>
            </a:r>
            <a:r>
              <a:rPr dirty="0" sz="1900">
                <a:solidFill>
                  <a:srgbClr val="DFE3E6"/>
                </a:solidFill>
                <a:latin typeface="Tahoma"/>
                <a:cs typeface="Tahoma"/>
              </a:rPr>
              <a:t>campus</a:t>
            </a:r>
            <a:r>
              <a:rPr dirty="0" sz="1900" spc="-140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DFE3E6"/>
                </a:solidFill>
                <a:latin typeface="Tahoma"/>
                <a:cs typeface="Tahoma"/>
              </a:rPr>
              <a:t>sustainability</a:t>
            </a:r>
            <a:r>
              <a:rPr dirty="0" sz="1900" spc="-235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DFE3E6"/>
                </a:solidFill>
                <a:latin typeface="Tahoma"/>
                <a:cs typeface="Tahoma"/>
              </a:rPr>
              <a:t>goals.</a:t>
            </a:r>
            <a:endParaRPr sz="19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0" y="0"/>
            <a:ext cx="5486400" cy="82295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0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150"/>
              <a:t>Introducing</a:t>
            </a:r>
            <a:r>
              <a:rPr dirty="0" sz="4150" spc="-125"/>
              <a:t> </a:t>
            </a:r>
            <a:r>
              <a:rPr dirty="0" sz="4150"/>
              <a:t>Smart</a:t>
            </a:r>
            <a:r>
              <a:rPr dirty="0" sz="4150" spc="-175"/>
              <a:t> </a:t>
            </a:r>
            <a:r>
              <a:rPr dirty="0" sz="4150" spc="-20"/>
              <a:t>Mess</a:t>
            </a:r>
            <a:endParaRPr sz="4150"/>
          </a:p>
        </p:txBody>
      </p:sp>
      <p:grpSp>
        <p:nvGrpSpPr>
          <p:cNvPr id="4" name="object 4" descr=""/>
          <p:cNvGrpSpPr/>
          <p:nvPr/>
        </p:nvGrpSpPr>
        <p:grpSpPr>
          <a:xfrm>
            <a:off x="827532" y="1796795"/>
            <a:ext cx="3644265" cy="3100070"/>
            <a:chOff x="827532" y="1796795"/>
            <a:chExt cx="3644265" cy="3100070"/>
          </a:xfrm>
        </p:grpSpPr>
        <p:sp>
          <p:nvSpPr>
            <p:cNvPr id="5" name="object 5" descr=""/>
            <p:cNvSpPr/>
            <p:nvPr/>
          </p:nvSpPr>
          <p:spPr>
            <a:xfrm>
              <a:off x="838962" y="1808225"/>
              <a:ext cx="3621404" cy="3077210"/>
            </a:xfrm>
            <a:custGeom>
              <a:avLst/>
              <a:gdLst/>
              <a:ahLst/>
              <a:cxnLst/>
              <a:rect l="l" t="t" r="r" b="b"/>
              <a:pathLst>
                <a:path w="3621404" h="3077210">
                  <a:moveTo>
                    <a:pt x="3261995" y="0"/>
                  </a:moveTo>
                  <a:lnTo>
                    <a:pt x="359079" y="0"/>
                  </a:lnTo>
                  <a:lnTo>
                    <a:pt x="310355" y="3278"/>
                  </a:lnTo>
                  <a:lnTo>
                    <a:pt x="263623" y="12827"/>
                  </a:lnTo>
                  <a:lnTo>
                    <a:pt x="219311" y="28219"/>
                  </a:lnTo>
                  <a:lnTo>
                    <a:pt x="177847" y="49026"/>
                  </a:lnTo>
                  <a:lnTo>
                    <a:pt x="139658" y="74820"/>
                  </a:lnTo>
                  <a:lnTo>
                    <a:pt x="105173" y="105171"/>
                  </a:lnTo>
                  <a:lnTo>
                    <a:pt x="74819" y="139653"/>
                  </a:lnTo>
                  <a:lnTo>
                    <a:pt x="49025" y="177837"/>
                  </a:lnTo>
                  <a:lnTo>
                    <a:pt x="28218" y="219295"/>
                  </a:lnTo>
                  <a:lnTo>
                    <a:pt x="12826" y="263598"/>
                  </a:lnTo>
                  <a:lnTo>
                    <a:pt x="3278" y="310319"/>
                  </a:lnTo>
                  <a:lnTo>
                    <a:pt x="0" y="359028"/>
                  </a:lnTo>
                  <a:lnTo>
                    <a:pt x="0" y="2717927"/>
                  </a:lnTo>
                  <a:lnTo>
                    <a:pt x="3278" y="2766636"/>
                  </a:lnTo>
                  <a:lnTo>
                    <a:pt x="12826" y="2813357"/>
                  </a:lnTo>
                  <a:lnTo>
                    <a:pt x="28218" y="2857660"/>
                  </a:lnTo>
                  <a:lnTo>
                    <a:pt x="49025" y="2899118"/>
                  </a:lnTo>
                  <a:lnTo>
                    <a:pt x="74819" y="2937302"/>
                  </a:lnTo>
                  <a:lnTo>
                    <a:pt x="105173" y="2971784"/>
                  </a:lnTo>
                  <a:lnTo>
                    <a:pt x="139658" y="3002135"/>
                  </a:lnTo>
                  <a:lnTo>
                    <a:pt x="177847" y="3027929"/>
                  </a:lnTo>
                  <a:lnTo>
                    <a:pt x="219311" y="3048736"/>
                  </a:lnTo>
                  <a:lnTo>
                    <a:pt x="263623" y="3064128"/>
                  </a:lnTo>
                  <a:lnTo>
                    <a:pt x="310355" y="3073677"/>
                  </a:lnTo>
                  <a:lnTo>
                    <a:pt x="359079" y="3076956"/>
                  </a:lnTo>
                  <a:lnTo>
                    <a:pt x="3261995" y="3076956"/>
                  </a:lnTo>
                  <a:lnTo>
                    <a:pt x="3310704" y="3073677"/>
                  </a:lnTo>
                  <a:lnTo>
                    <a:pt x="3357425" y="3064128"/>
                  </a:lnTo>
                  <a:lnTo>
                    <a:pt x="3401728" y="3048736"/>
                  </a:lnTo>
                  <a:lnTo>
                    <a:pt x="3443186" y="3027929"/>
                  </a:lnTo>
                  <a:lnTo>
                    <a:pt x="3481370" y="3002135"/>
                  </a:lnTo>
                  <a:lnTo>
                    <a:pt x="3515852" y="2971784"/>
                  </a:lnTo>
                  <a:lnTo>
                    <a:pt x="3546203" y="2937302"/>
                  </a:lnTo>
                  <a:lnTo>
                    <a:pt x="3571997" y="2899118"/>
                  </a:lnTo>
                  <a:lnTo>
                    <a:pt x="3592804" y="2857660"/>
                  </a:lnTo>
                  <a:lnTo>
                    <a:pt x="3608196" y="2813357"/>
                  </a:lnTo>
                  <a:lnTo>
                    <a:pt x="3617745" y="2766636"/>
                  </a:lnTo>
                  <a:lnTo>
                    <a:pt x="3621024" y="2717927"/>
                  </a:lnTo>
                  <a:lnTo>
                    <a:pt x="3621024" y="359028"/>
                  </a:lnTo>
                  <a:lnTo>
                    <a:pt x="3617745" y="310319"/>
                  </a:lnTo>
                  <a:lnTo>
                    <a:pt x="3608196" y="263598"/>
                  </a:lnTo>
                  <a:lnTo>
                    <a:pt x="3592804" y="219295"/>
                  </a:lnTo>
                  <a:lnTo>
                    <a:pt x="3571997" y="177837"/>
                  </a:lnTo>
                  <a:lnTo>
                    <a:pt x="3546203" y="139653"/>
                  </a:lnTo>
                  <a:lnTo>
                    <a:pt x="3515852" y="105171"/>
                  </a:lnTo>
                  <a:lnTo>
                    <a:pt x="3481370" y="74820"/>
                  </a:lnTo>
                  <a:lnTo>
                    <a:pt x="3443186" y="49026"/>
                  </a:lnTo>
                  <a:lnTo>
                    <a:pt x="3401728" y="28219"/>
                  </a:lnTo>
                  <a:lnTo>
                    <a:pt x="3357425" y="12827"/>
                  </a:lnTo>
                  <a:lnTo>
                    <a:pt x="3310704" y="3278"/>
                  </a:lnTo>
                  <a:lnTo>
                    <a:pt x="3261995" y="0"/>
                  </a:lnTo>
                  <a:close/>
                </a:path>
              </a:pathLst>
            </a:custGeom>
            <a:solidFill>
              <a:srgbClr val="09081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838962" y="1808225"/>
              <a:ext cx="3621404" cy="3077210"/>
            </a:xfrm>
            <a:custGeom>
              <a:avLst/>
              <a:gdLst/>
              <a:ahLst/>
              <a:cxnLst/>
              <a:rect l="l" t="t" r="r" b="b"/>
              <a:pathLst>
                <a:path w="3621404" h="3077210">
                  <a:moveTo>
                    <a:pt x="0" y="359028"/>
                  </a:moveTo>
                  <a:lnTo>
                    <a:pt x="3278" y="310319"/>
                  </a:lnTo>
                  <a:lnTo>
                    <a:pt x="12826" y="263598"/>
                  </a:lnTo>
                  <a:lnTo>
                    <a:pt x="28218" y="219295"/>
                  </a:lnTo>
                  <a:lnTo>
                    <a:pt x="49025" y="177837"/>
                  </a:lnTo>
                  <a:lnTo>
                    <a:pt x="74819" y="139653"/>
                  </a:lnTo>
                  <a:lnTo>
                    <a:pt x="105173" y="105171"/>
                  </a:lnTo>
                  <a:lnTo>
                    <a:pt x="139658" y="74820"/>
                  </a:lnTo>
                  <a:lnTo>
                    <a:pt x="177847" y="49026"/>
                  </a:lnTo>
                  <a:lnTo>
                    <a:pt x="219311" y="28219"/>
                  </a:lnTo>
                  <a:lnTo>
                    <a:pt x="263623" y="12827"/>
                  </a:lnTo>
                  <a:lnTo>
                    <a:pt x="310355" y="3278"/>
                  </a:lnTo>
                  <a:lnTo>
                    <a:pt x="359079" y="0"/>
                  </a:lnTo>
                  <a:lnTo>
                    <a:pt x="3261995" y="0"/>
                  </a:lnTo>
                  <a:lnTo>
                    <a:pt x="3310704" y="3278"/>
                  </a:lnTo>
                  <a:lnTo>
                    <a:pt x="3357425" y="12827"/>
                  </a:lnTo>
                  <a:lnTo>
                    <a:pt x="3401728" y="28219"/>
                  </a:lnTo>
                  <a:lnTo>
                    <a:pt x="3443186" y="49026"/>
                  </a:lnTo>
                  <a:lnTo>
                    <a:pt x="3481370" y="74820"/>
                  </a:lnTo>
                  <a:lnTo>
                    <a:pt x="3515852" y="105171"/>
                  </a:lnTo>
                  <a:lnTo>
                    <a:pt x="3546203" y="139653"/>
                  </a:lnTo>
                  <a:lnTo>
                    <a:pt x="3571997" y="177837"/>
                  </a:lnTo>
                  <a:lnTo>
                    <a:pt x="3592804" y="219295"/>
                  </a:lnTo>
                  <a:lnTo>
                    <a:pt x="3608196" y="263598"/>
                  </a:lnTo>
                  <a:lnTo>
                    <a:pt x="3617745" y="310319"/>
                  </a:lnTo>
                  <a:lnTo>
                    <a:pt x="3621024" y="359028"/>
                  </a:lnTo>
                  <a:lnTo>
                    <a:pt x="3621024" y="2717927"/>
                  </a:lnTo>
                  <a:lnTo>
                    <a:pt x="3617745" y="2766636"/>
                  </a:lnTo>
                  <a:lnTo>
                    <a:pt x="3608196" y="2813357"/>
                  </a:lnTo>
                  <a:lnTo>
                    <a:pt x="3592804" y="2857660"/>
                  </a:lnTo>
                  <a:lnTo>
                    <a:pt x="3571997" y="2899118"/>
                  </a:lnTo>
                  <a:lnTo>
                    <a:pt x="3546203" y="2937302"/>
                  </a:lnTo>
                  <a:lnTo>
                    <a:pt x="3515852" y="2971784"/>
                  </a:lnTo>
                  <a:lnTo>
                    <a:pt x="3481370" y="3002135"/>
                  </a:lnTo>
                  <a:lnTo>
                    <a:pt x="3443186" y="3027929"/>
                  </a:lnTo>
                  <a:lnTo>
                    <a:pt x="3401728" y="3048736"/>
                  </a:lnTo>
                  <a:lnTo>
                    <a:pt x="3357425" y="3064128"/>
                  </a:lnTo>
                  <a:lnTo>
                    <a:pt x="3310704" y="3073677"/>
                  </a:lnTo>
                  <a:lnTo>
                    <a:pt x="3261995" y="3076956"/>
                  </a:lnTo>
                  <a:lnTo>
                    <a:pt x="359079" y="3076956"/>
                  </a:lnTo>
                  <a:lnTo>
                    <a:pt x="310355" y="3073677"/>
                  </a:lnTo>
                  <a:lnTo>
                    <a:pt x="263623" y="3064128"/>
                  </a:lnTo>
                  <a:lnTo>
                    <a:pt x="219311" y="3048736"/>
                  </a:lnTo>
                  <a:lnTo>
                    <a:pt x="177847" y="3027929"/>
                  </a:lnTo>
                  <a:lnTo>
                    <a:pt x="139658" y="3002135"/>
                  </a:lnTo>
                  <a:lnTo>
                    <a:pt x="105173" y="2971784"/>
                  </a:lnTo>
                  <a:lnTo>
                    <a:pt x="74819" y="2937302"/>
                  </a:lnTo>
                  <a:lnTo>
                    <a:pt x="49025" y="2899118"/>
                  </a:lnTo>
                  <a:lnTo>
                    <a:pt x="28218" y="2857660"/>
                  </a:lnTo>
                  <a:lnTo>
                    <a:pt x="12826" y="2813357"/>
                  </a:lnTo>
                  <a:lnTo>
                    <a:pt x="3278" y="2766636"/>
                  </a:lnTo>
                  <a:lnTo>
                    <a:pt x="0" y="2717927"/>
                  </a:lnTo>
                  <a:lnTo>
                    <a:pt x="0" y="359028"/>
                  </a:lnTo>
                  <a:close/>
                </a:path>
              </a:pathLst>
            </a:custGeom>
            <a:ln w="22860">
              <a:solidFill>
                <a:srgbClr val="16FFB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097280" y="2071115"/>
              <a:ext cx="718185" cy="718185"/>
            </a:xfrm>
            <a:custGeom>
              <a:avLst/>
              <a:gdLst/>
              <a:ahLst/>
              <a:cxnLst/>
              <a:rect l="l" t="t" r="r" b="b"/>
              <a:pathLst>
                <a:path w="718185" h="718185">
                  <a:moveTo>
                    <a:pt x="358901" y="0"/>
                  </a:moveTo>
                  <a:lnTo>
                    <a:pt x="310199" y="3275"/>
                  </a:lnTo>
                  <a:lnTo>
                    <a:pt x="263489" y="12818"/>
                  </a:lnTo>
                  <a:lnTo>
                    <a:pt x="219198" y="28199"/>
                  </a:lnTo>
                  <a:lnTo>
                    <a:pt x="177754" y="48993"/>
                  </a:lnTo>
                  <a:lnTo>
                    <a:pt x="139585" y="74772"/>
                  </a:lnTo>
                  <a:lnTo>
                    <a:pt x="105117" y="105108"/>
                  </a:lnTo>
                  <a:lnTo>
                    <a:pt x="74780" y="139574"/>
                  </a:lnTo>
                  <a:lnTo>
                    <a:pt x="48999" y="177743"/>
                  </a:lnTo>
                  <a:lnTo>
                    <a:pt x="28203" y="219188"/>
                  </a:lnTo>
                  <a:lnTo>
                    <a:pt x="12819" y="263480"/>
                  </a:lnTo>
                  <a:lnTo>
                    <a:pt x="3276" y="310194"/>
                  </a:lnTo>
                  <a:lnTo>
                    <a:pt x="0" y="358901"/>
                  </a:lnTo>
                  <a:lnTo>
                    <a:pt x="3276" y="407609"/>
                  </a:lnTo>
                  <a:lnTo>
                    <a:pt x="12819" y="454323"/>
                  </a:lnTo>
                  <a:lnTo>
                    <a:pt x="28203" y="498615"/>
                  </a:lnTo>
                  <a:lnTo>
                    <a:pt x="48999" y="540060"/>
                  </a:lnTo>
                  <a:lnTo>
                    <a:pt x="74780" y="578229"/>
                  </a:lnTo>
                  <a:lnTo>
                    <a:pt x="105117" y="612695"/>
                  </a:lnTo>
                  <a:lnTo>
                    <a:pt x="139585" y="643031"/>
                  </a:lnTo>
                  <a:lnTo>
                    <a:pt x="177754" y="668810"/>
                  </a:lnTo>
                  <a:lnTo>
                    <a:pt x="219198" y="689604"/>
                  </a:lnTo>
                  <a:lnTo>
                    <a:pt x="263489" y="704985"/>
                  </a:lnTo>
                  <a:lnTo>
                    <a:pt x="310199" y="714528"/>
                  </a:lnTo>
                  <a:lnTo>
                    <a:pt x="358901" y="717804"/>
                  </a:lnTo>
                  <a:lnTo>
                    <a:pt x="407609" y="714528"/>
                  </a:lnTo>
                  <a:lnTo>
                    <a:pt x="454323" y="704985"/>
                  </a:lnTo>
                  <a:lnTo>
                    <a:pt x="498615" y="689604"/>
                  </a:lnTo>
                  <a:lnTo>
                    <a:pt x="540060" y="668810"/>
                  </a:lnTo>
                  <a:lnTo>
                    <a:pt x="578229" y="643031"/>
                  </a:lnTo>
                  <a:lnTo>
                    <a:pt x="612695" y="612695"/>
                  </a:lnTo>
                  <a:lnTo>
                    <a:pt x="643031" y="578229"/>
                  </a:lnTo>
                  <a:lnTo>
                    <a:pt x="668810" y="540060"/>
                  </a:lnTo>
                  <a:lnTo>
                    <a:pt x="689604" y="498615"/>
                  </a:lnTo>
                  <a:lnTo>
                    <a:pt x="704985" y="454323"/>
                  </a:lnTo>
                  <a:lnTo>
                    <a:pt x="714528" y="407609"/>
                  </a:lnTo>
                  <a:lnTo>
                    <a:pt x="717803" y="358901"/>
                  </a:lnTo>
                  <a:lnTo>
                    <a:pt x="714528" y="310194"/>
                  </a:lnTo>
                  <a:lnTo>
                    <a:pt x="704985" y="263480"/>
                  </a:lnTo>
                  <a:lnTo>
                    <a:pt x="689604" y="219188"/>
                  </a:lnTo>
                  <a:lnTo>
                    <a:pt x="668810" y="177743"/>
                  </a:lnTo>
                  <a:lnTo>
                    <a:pt x="643031" y="139574"/>
                  </a:lnTo>
                  <a:lnTo>
                    <a:pt x="612695" y="105108"/>
                  </a:lnTo>
                  <a:lnTo>
                    <a:pt x="578229" y="74772"/>
                  </a:lnTo>
                  <a:lnTo>
                    <a:pt x="540060" y="48993"/>
                  </a:lnTo>
                  <a:lnTo>
                    <a:pt x="498615" y="28199"/>
                  </a:lnTo>
                  <a:lnTo>
                    <a:pt x="454323" y="12818"/>
                  </a:lnTo>
                  <a:lnTo>
                    <a:pt x="407609" y="3275"/>
                  </a:lnTo>
                  <a:lnTo>
                    <a:pt x="358901" y="0"/>
                  </a:lnTo>
                  <a:close/>
                </a:path>
              </a:pathLst>
            </a:custGeom>
            <a:solidFill>
              <a:srgbClr val="16FFB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98448" y="2267711"/>
              <a:ext cx="320040" cy="320039"/>
            </a:xfrm>
            <a:prstGeom prst="rect">
              <a:avLst/>
            </a:prstGeom>
          </p:spPr>
        </p:pic>
      </p:grpSp>
      <p:sp>
        <p:nvSpPr>
          <p:cNvPr id="9" name="object 9" descr=""/>
          <p:cNvSpPr txBox="1"/>
          <p:nvPr/>
        </p:nvSpPr>
        <p:spPr>
          <a:xfrm>
            <a:off x="1086713" y="2993898"/>
            <a:ext cx="3054350" cy="16046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50" b="1">
                <a:solidFill>
                  <a:srgbClr val="DFE3E6"/>
                </a:solidFill>
                <a:latin typeface="Arial"/>
                <a:cs typeface="Arial"/>
              </a:rPr>
              <a:t>Centralized</a:t>
            </a:r>
            <a:r>
              <a:rPr dirty="0" sz="2050" spc="-75" b="1">
                <a:solidFill>
                  <a:srgbClr val="DFE3E6"/>
                </a:solidFill>
                <a:latin typeface="Arial"/>
                <a:cs typeface="Arial"/>
              </a:rPr>
              <a:t> </a:t>
            </a:r>
            <a:r>
              <a:rPr dirty="0" sz="2050" spc="-10" b="1">
                <a:solidFill>
                  <a:srgbClr val="DFE3E6"/>
                </a:solidFill>
                <a:latin typeface="Arial"/>
                <a:cs typeface="Arial"/>
              </a:rPr>
              <a:t>Platform</a:t>
            </a:r>
            <a:endParaRPr sz="2050">
              <a:latin typeface="Arial"/>
              <a:cs typeface="Arial"/>
            </a:endParaRPr>
          </a:p>
          <a:p>
            <a:pPr marL="12700" marR="5080">
              <a:lnSpc>
                <a:spcPct val="138400"/>
              </a:lnSpc>
              <a:spcBef>
                <a:spcPts val="994"/>
              </a:spcBef>
            </a:pPr>
            <a:r>
              <a:rPr dirty="0" sz="1800">
                <a:solidFill>
                  <a:srgbClr val="DFE3E6"/>
                </a:solidFill>
                <a:latin typeface="Tahoma"/>
                <a:cs typeface="Tahoma"/>
              </a:rPr>
              <a:t>A</a:t>
            </a:r>
            <a:r>
              <a:rPr dirty="0" sz="1800" spc="-75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DFE3E6"/>
                </a:solidFill>
                <a:latin typeface="Tahoma"/>
                <a:cs typeface="Tahoma"/>
              </a:rPr>
              <a:t>unified</a:t>
            </a:r>
            <a:r>
              <a:rPr dirty="0" sz="1800" spc="25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DFE3E6"/>
                </a:solidFill>
                <a:latin typeface="Tahoma"/>
                <a:cs typeface="Tahoma"/>
              </a:rPr>
              <a:t>web-based</a:t>
            </a:r>
            <a:r>
              <a:rPr dirty="0" sz="1800" spc="-20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DFE3E6"/>
                </a:solidFill>
                <a:latin typeface="Tahoma"/>
                <a:cs typeface="Tahoma"/>
              </a:rPr>
              <a:t>system </a:t>
            </a:r>
            <a:r>
              <a:rPr dirty="0" sz="1800">
                <a:solidFill>
                  <a:srgbClr val="DFE3E6"/>
                </a:solidFill>
                <a:latin typeface="Tahoma"/>
                <a:cs typeface="Tahoma"/>
              </a:rPr>
              <a:t>connecting</a:t>
            </a:r>
            <a:r>
              <a:rPr dirty="0" sz="1800" spc="120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DFE3E6"/>
                </a:solidFill>
                <a:latin typeface="Tahoma"/>
                <a:cs typeface="Tahoma"/>
              </a:rPr>
              <a:t>all</a:t>
            </a:r>
            <a:r>
              <a:rPr dirty="0" sz="1800" spc="45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DFE3E6"/>
                </a:solidFill>
                <a:latin typeface="Tahoma"/>
                <a:cs typeface="Tahoma"/>
              </a:rPr>
              <a:t>stakeholders</a:t>
            </a:r>
            <a:r>
              <a:rPr dirty="0" sz="1800" spc="55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DFE3E6"/>
                </a:solidFill>
                <a:latin typeface="Tahoma"/>
                <a:cs typeface="Tahoma"/>
              </a:rPr>
              <a:t>in </a:t>
            </a:r>
            <a:r>
              <a:rPr dirty="0" sz="1800">
                <a:solidFill>
                  <a:srgbClr val="DFE3E6"/>
                </a:solidFill>
                <a:latin typeface="Tahoma"/>
                <a:cs typeface="Tahoma"/>
              </a:rPr>
              <a:t>real-</a:t>
            </a:r>
            <a:r>
              <a:rPr dirty="0" sz="1800" spc="-20">
                <a:solidFill>
                  <a:srgbClr val="DFE3E6"/>
                </a:solidFill>
                <a:latin typeface="Tahoma"/>
                <a:cs typeface="Tahoma"/>
              </a:rPr>
              <a:t>time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4677155" y="1796795"/>
            <a:ext cx="3644265" cy="3100070"/>
            <a:chOff x="4677155" y="1796795"/>
            <a:chExt cx="3644265" cy="3100070"/>
          </a:xfrm>
        </p:grpSpPr>
        <p:sp>
          <p:nvSpPr>
            <p:cNvPr id="11" name="object 11" descr=""/>
            <p:cNvSpPr/>
            <p:nvPr/>
          </p:nvSpPr>
          <p:spPr>
            <a:xfrm>
              <a:off x="4688585" y="1808225"/>
              <a:ext cx="3621404" cy="3077210"/>
            </a:xfrm>
            <a:custGeom>
              <a:avLst/>
              <a:gdLst/>
              <a:ahLst/>
              <a:cxnLst/>
              <a:rect l="l" t="t" r="r" b="b"/>
              <a:pathLst>
                <a:path w="3621404" h="3077210">
                  <a:moveTo>
                    <a:pt x="3261994" y="0"/>
                  </a:moveTo>
                  <a:lnTo>
                    <a:pt x="359028" y="0"/>
                  </a:lnTo>
                  <a:lnTo>
                    <a:pt x="310319" y="3278"/>
                  </a:lnTo>
                  <a:lnTo>
                    <a:pt x="263598" y="12827"/>
                  </a:lnTo>
                  <a:lnTo>
                    <a:pt x="219295" y="28219"/>
                  </a:lnTo>
                  <a:lnTo>
                    <a:pt x="177837" y="49026"/>
                  </a:lnTo>
                  <a:lnTo>
                    <a:pt x="139653" y="74820"/>
                  </a:lnTo>
                  <a:lnTo>
                    <a:pt x="105171" y="105171"/>
                  </a:lnTo>
                  <a:lnTo>
                    <a:pt x="74820" y="139653"/>
                  </a:lnTo>
                  <a:lnTo>
                    <a:pt x="49026" y="177837"/>
                  </a:lnTo>
                  <a:lnTo>
                    <a:pt x="28219" y="219295"/>
                  </a:lnTo>
                  <a:lnTo>
                    <a:pt x="12827" y="263598"/>
                  </a:lnTo>
                  <a:lnTo>
                    <a:pt x="3278" y="310319"/>
                  </a:lnTo>
                  <a:lnTo>
                    <a:pt x="0" y="359028"/>
                  </a:lnTo>
                  <a:lnTo>
                    <a:pt x="0" y="2717927"/>
                  </a:lnTo>
                  <a:lnTo>
                    <a:pt x="3278" y="2766636"/>
                  </a:lnTo>
                  <a:lnTo>
                    <a:pt x="12827" y="2813357"/>
                  </a:lnTo>
                  <a:lnTo>
                    <a:pt x="28219" y="2857660"/>
                  </a:lnTo>
                  <a:lnTo>
                    <a:pt x="49026" y="2899118"/>
                  </a:lnTo>
                  <a:lnTo>
                    <a:pt x="74820" y="2937302"/>
                  </a:lnTo>
                  <a:lnTo>
                    <a:pt x="105171" y="2971784"/>
                  </a:lnTo>
                  <a:lnTo>
                    <a:pt x="139653" y="3002135"/>
                  </a:lnTo>
                  <a:lnTo>
                    <a:pt x="177837" y="3027929"/>
                  </a:lnTo>
                  <a:lnTo>
                    <a:pt x="219295" y="3048736"/>
                  </a:lnTo>
                  <a:lnTo>
                    <a:pt x="263598" y="3064128"/>
                  </a:lnTo>
                  <a:lnTo>
                    <a:pt x="310319" y="3073677"/>
                  </a:lnTo>
                  <a:lnTo>
                    <a:pt x="359028" y="3076956"/>
                  </a:lnTo>
                  <a:lnTo>
                    <a:pt x="3261994" y="3076956"/>
                  </a:lnTo>
                  <a:lnTo>
                    <a:pt x="3310704" y="3073677"/>
                  </a:lnTo>
                  <a:lnTo>
                    <a:pt x="3357425" y="3064128"/>
                  </a:lnTo>
                  <a:lnTo>
                    <a:pt x="3401728" y="3048736"/>
                  </a:lnTo>
                  <a:lnTo>
                    <a:pt x="3443186" y="3027929"/>
                  </a:lnTo>
                  <a:lnTo>
                    <a:pt x="3481370" y="3002135"/>
                  </a:lnTo>
                  <a:lnTo>
                    <a:pt x="3515852" y="2971784"/>
                  </a:lnTo>
                  <a:lnTo>
                    <a:pt x="3546203" y="2937302"/>
                  </a:lnTo>
                  <a:lnTo>
                    <a:pt x="3571997" y="2899118"/>
                  </a:lnTo>
                  <a:lnTo>
                    <a:pt x="3592804" y="2857660"/>
                  </a:lnTo>
                  <a:lnTo>
                    <a:pt x="3608196" y="2813357"/>
                  </a:lnTo>
                  <a:lnTo>
                    <a:pt x="3617745" y="2766636"/>
                  </a:lnTo>
                  <a:lnTo>
                    <a:pt x="3621023" y="2717927"/>
                  </a:lnTo>
                  <a:lnTo>
                    <a:pt x="3621023" y="359028"/>
                  </a:lnTo>
                  <a:lnTo>
                    <a:pt x="3617745" y="310319"/>
                  </a:lnTo>
                  <a:lnTo>
                    <a:pt x="3608196" y="263598"/>
                  </a:lnTo>
                  <a:lnTo>
                    <a:pt x="3592804" y="219295"/>
                  </a:lnTo>
                  <a:lnTo>
                    <a:pt x="3571997" y="177837"/>
                  </a:lnTo>
                  <a:lnTo>
                    <a:pt x="3546203" y="139653"/>
                  </a:lnTo>
                  <a:lnTo>
                    <a:pt x="3515852" y="105171"/>
                  </a:lnTo>
                  <a:lnTo>
                    <a:pt x="3481370" y="74820"/>
                  </a:lnTo>
                  <a:lnTo>
                    <a:pt x="3443186" y="49026"/>
                  </a:lnTo>
                  <a:lnTo>
                    <a:pt x="3401728" y="28219"/>
                  </a:lnTo>
                  <a:lnTo>
                    <a:pt x="3357425" y="12827"/>
                  </a:lnTo>
                  <a:lnTo>
                    <a:pt x="3310704" y="3278"/>
                  </a:lnTo>
                  <a:lnTo>
                    <a:pt x="3261994" y="0"/>
                  </a:lnTo>
                  <a:close/>
                </a:path>
              </a:pathLst>
            </a:custGeom>
            <a:solidFill>
              <a:srgbClr val="09081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688585" y="1808225"/>
              <a:ext cx="3621404" cy="3077210"/>
            </a:xfrm>
            <a:custGeom>
              <a:avLst/>
              <a:gdLst/>
              <a:ahLst/>
              <a:cxnLst/>
              <a:rect l="l" t="t" r="r" b="b"/>
              <a:pathLst>
                <a:path w="3621404" h="3077210">
                  <a:moveTo>
                    <a:pt x="0" y="359028"/>
                  </a:moveTo>
                  <a:lnTo>
                    <a:pt x="3278" y="310319"/>
                  </a:lnTo>
                  <a:lnTo>
                    <a:pt x="12827" y="263598"/>
                  </a:lnTo>
                  <a:lnTo>
                    <a:pt x="28219" y="219295"/>
                  </a:lnTo>
                  <a:lnTo>
                    <a:pt x="49026" y="177837"/>
                  </a:lnTo>
                  <a:lnTo>
                    <a:pt x="74820" y="139653"/>
                  </a:lnTo>
                  <a:lnTo>
                    <a:pt x="105171" y="105171"/>
                  </a:lnTo>
                  <a:lnTo>
                    <a:pt x="139653" y="74820"/>
                  </a:lnTo>
                  <a:lnTo>
                    <a:pt x="177837" y="49026"/>
                  </a:lnTo>
                  <a:lnTo>
                    <a:pt x="219295" y="28219"/>
                  </a:lnTo>
                  <a:lnTo>
                    <a:pt x="263598" y="12827"/>
                  </a:lnTo>
                  <a:lnTo>
                    <a:pt x="310319" y="3278"/>
                  </a:lnTo>
                  <a:lnTo>
                    <a:pt x="359028" y="0"/>
                  </a:lnTo>
                  <a:lnTo>
                    <a:pt x="3261994" y="0"/>
                  </a:lnTo>
                  <a:lnTo>
                    <a:pt x="3310704" y="3278"/>
                  </a:lnTo>
                  <a:lnTo>
                    <a:pt x="3357425" y="12827"/>
                  </a:lnTo>
                  <a:lnTo>
                    <a:pt x="3401728" y="28219"/>
                  </a:lnTo>
                  <a:lnTo>
                    <a:pt x="3443186" y="49026"/>
                  </a:lnTo>
                  <a:lnTo>
                    <a:pt x="3481370" y="74820"/>
                  </a:lnTo>
                  <a:lnTo>
                    <a:pt x="3515852" y="105171"/>
                  </a:lnTo>
                  <a:lnTo>
                    <a:pt x="3546203" y="139653"/>
                  </a:lnTo>
                  <a:lnTo>
                    <a:pt x="3571997" y="177837"/>
                  </a:lnTo>
                  <a:lnTo>
                    <a:pt x="3592804" y="219295"/>
                  </a:lnTo>
                  <a:lnTo>
                    <a:pt x="3608196" y="263598"/>
                  </a:lnTo>
                  <a:lnTo>
                    <a:pt x="3617745" y="310319"/>
                  </a:lnTo>
                  <a:lnTo>
                    <a:pt x="3621023" y="359028"/>
                  </a:lnTo>
                  <a:lnTo>
                    <a:pt x="3621023" y="2717927"/>
                  </a:lnTo>
                  <a:lnTo>
                    <a:pt x="3617745" y="2766636"/>
                  </a:lnTo>
                  <a:lnTo>
                    <a:pt x="3608196" y="2813357"/>
                  </a:lnTo>
                  <a:lnTo>
                    <a:pt x="3592804" y="2857660"/>
                  </a:lnTo>
                  <a:lnTo>
                    <a:pt x="3571997" y="2899118"/>
                  </a:lnTo>
                  <a:lnTo>
                    <a:pt x="3546203" y="2937302"/>
                  </a:lnTo>
                  <a:lnTo>
                    <a:pt x="3515852" y="2971784"/>
                  </a:lnTo>
                  <a:lnTo>
                    <a:pt x="3481370" y="3002135"/>
                  </a:lnTo>
                  <a:lnTo>
                    <a:pt x="3443186" y="3027929"/>
                  </a:lnTo>
                  <a:lnTo>
                    <a:pt x="3401728" y="3048736"/>
                  </a:lnTo>
                  <a:lnTo>
                    <a:pt x="3357425" y="3064128"/>
                  </a:lnTo>
                  <a:lnTo>
                    <a:pt x="3310704" y="3073677"/>
                  </a:lnTo>
                  <a:lnTo>
                    <a:pt x="3261994" y="3076956"/>
                  </a:lnTo>
                  <a:lnTo>
                    <a:pt x="359028" y="3076956"/>
                  </a:lnTo>
                  <a:lnTo>
                    <a:pt x="310319" y="3073677"/>
                  </a:lnTo>
                  <a:lnTo>
                    <a:pt x="263598" y="3064128"/>
                  </a:lnTo>
                  <a:lnTo>
                    <a:pt x="219295" y="3048736"/>
                  </a:lnTo>
                  <a:lnTo>
                    <a:pt x="177837" y="3027929"/>
                  </a:lnTo>
                  <a:lnTo>
                    <a:pt x="139653" y="3002135"/>
                  </a:lnTo>
                  <a:lnTo>
                    <a:pt x="105171" y="2971784"/>
                  </a:lnTo>
                  <a:lnTo>
                    <a:pt x="74820" y="2937302"/>
                  </a:lnTo>
                  <a:lnTo>
                    <a:pt x="49026" y="2899118"/>
                  </a:lnTo>
                  <a:lnTo>
                    <a:pt x="28219" y="2857660"/>
                  </a:lnTo>
                  <a:lnTo>
                    <a:pt x="12827" y="2813357"/>
                  </a:lnTo>
                  <a:lnTo>
                    <a:pt x="3278" y="2766636"/>
                  </a:lnTo>
                  <a:lnTo>
                    <a:pt x="0" y="2717927"/>
                  </a:lnTo>
                  <a:lnTo>
                    <a:pt x="0" y="359028"/>
                  </a:lnTo>
                  <a:close/>
                </a:path>
              </a:pathLst>
            </a:custGeom>
            <a:ln w="22860">
              <a:solidFill>
                <a:srgbClr val="29DDD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4951475" y="2071115"/>
              <a:ext cx="718185" cy="718185"/>
            </a:xfrm>
            <a:custGeom>
              <a:avLst/>
              <a:gdLst/>
              <a:ahLst/>
              <a:cxnLst/>
              <a:rect l="l" t="t" r="r" b="b"/>
              <a:pathLst>
                <a:path w="718185" h="718185">
                  <a:moveTo>
                    <a:pt x="358901" y="0"/>
                  </a:moveTo>
                  <a:lnTo>
                    <a:pt x="310194" y="3275"/>
                  </a:lnTo>
                  <a:lnTo>
                    <a:pt x="263480" y="12818"/>
                  </a:lnTo>
                  <a:lnTo>
                    <a:pt x="219188" y="28199"/>
                  </a:lnTo>
                  <a:lnTo>
                    <a:pt x="177743" y="48993"/>
                  </a:lnTo>
                  <a:lnTo>
                    <a:pt x="139574" y="74772"/>
                  </a:lnTo>
                  <a:lnTo>
                    <a:pt x="105108" y="105108"/>
                  </a:lnTo>
                  <a:lnTo>
                    <a:pt x="74772" y="139574"/>
                  </a:lnTo>
                  <a:lnTo>
                    <a:pt x="48993" y="177743"/>
                  </a:lnTo>
                  <a:lnTo>
                    <a:pt x="28199" y="219188"/>
                  </a:lnTo>
                  <a:lnTo>
                    <a:pt x="12818" y="263480"/>
                  </a:lnTo>
                  <a:lnTo>
                    <a:pt x="3275" y="310194"/>
                  </a:lnTo>
                  <a:lnTo>
                    <a:pt x="0" y="358901"/>
                  </a:lnTo>
                  <a:lnTo>
                    <a:pt x="3275" y="407609"/>
                  </a:lnTo>
                  <a:lnTo>
                    <a:pt x="12818" y="454323"/>
                  </a:lnTo>
                  <a:lnTo>
                    <a:pt x="28199" y="498615"/>
                  </a:lnTo>
                  <a:lnTo>
                    <a:pt x="48993" y="540060"/>
                  </a:lnTo>
                  <a:lnTo>
                    <a:pt x="74772" y="578229"/>
                  </a:lnTo>
                  <a:lnTo>
                    <a:pt x="105108" y="612695"/>
                  </a:lnTo>
                  <a:lnTo>
                    <a:pt x="139574" y="643031"/>
                  </a:lnTo>
                  <a:lnTo>
                    <a:pt x="177743" y="668810"/>
                  </a:lnTo>
                  <a:lnTo>
                    <a:pt x="219188" y="689604"/>
                  </a:lnTo>
                  <a:lnTo>
                    <a:pt x="263480" y="704985"/>
                  </a:lnTo>
                  <a:lnTo>
                    <a:pt x="310194" y="714528"/>
                  </a:lnTo>
                  <a:lnTo>
                    <a:pt x="358901" y="717804"/>
                  </a:lnTo>
                  <a:lnTo>
                    <a:pt x="407609" y="714528"/>
                  </a:lnTo>
                  <a:lnTo>
                    <a:pt x="454323" y="704985"/>
                  </a:lnTo>
                  <a:lnTo>
                    <a:pt x="498615" y="689604"/>
                  </a:lnTo>
                  <a:lnTo>
                    <a:pt x="540060" y="668810"/>
                  </a:lnTo>
                  <a:lnTo>
                    <a:pt x="578229" y="643031"/>
                  </a:lnTo>
                  <a:lnTo>
                    <a:pt x="612695" y="612695"/>
                  </a:lnTo>
                  <a:lnTo>
                    <a:pt x="643031" y="578229"/>
                  </a:lnTo>
                  <a:lnTo>
                    <a:pt x="668810" y="540060"/>
                  </a:lnTo>
                  <a:lnTo>
                    <a:pt x="689604" y="498615"/>
                  </a:lnTo>
                  <a:lnTo>
                    <a:pt x="704985" y="454323"/>
                  </a:lnTo>
                  <a:lnTo>
                    <a:pt x="714528" y="407609"/>
                  </a:lnTo>
                  <a:lnTo>
                    <a:pt x="717803" y="358901"/>
                  </a:lnTo>
                  <a:lnTo>
                    <a:pt x="714528" y="310194"/>
                  </a:lnTo>
                  <a:lnTo>
                    <a:pt x="704985" y="263480"/>
                  </a:lnTo>
                  <a:lnTo>
                    <a:pt x="689604" y="219188"/>
                  </a:lnTo>
                  <a:lnTo>
                    <a:pt x="668810" y="177743"/>
                  </a:lnTo>
                  <a:lnTo>
                    <a:pt x="643031" y="139574"/>
                  </a:lnTo>
                  <a:lnTo>
                    <a:pt x="612695" y="105108"/>
                  </a:lnTo>
                  <a:lnTo>
                    <a:pt x="578229" y="74772"/>
                  </a:lnTo>
                  <a:lnTo>
                    <a:pt x="540060" y="48993"/>
                  </a:lnTo>
                  <a:lnTo>
                    <a:pt x="498615" y="28199"/>
                  </a:lnTo>
                  <a:lnTo>
                    <a:pt x="454323" y="12818"/>
                  </a:lnTo>
                  <a:lnTo>
                    <a:pt x="407609" y="3275"/>
                  </a:lnTo>
                  <a:lnTo>
                    <a:pt x="358901" y="0"/>
                  </a:lnTo>
                  <a:close/>
                </a:path>
              </a:pathLst>
            </a:custGeom>
            <a:solidFill>
              <a:srgbClr val="29DDD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48072" y="2267711"/>
              <a:ext cx="320039" cy="320039"/>
            </a:xfrm>
            <a:prstGeom prst="rect">
              <a:avLst/>
            </a:prstGeom>
          </p:spPr>
        </p:pic>
      </p:grpSp>
      <p:sp>
        <p:nvSpPr>
          <p:cNvPr id="15" name="object 15" descr=""/>
          <p:cNvSpPr txBox="1"/>
          <p:nvPr/>
        </p:nvSpPr>
        <p:spPr>
          <a:xfrm>
            <a:off x="4938776" y="2993898"/>
            <a:ext cx="2999105" cy="16046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50" spc="-35" b="1">
                <a:solidFill>
                  <a:srgbClr val="DFE3E6"/>
                </a:solidFill>
                <a:latin typeface="Arial"/>
                <a:cs typeface="Arial"/>
              </a:rPr>
              <a:t>Data-</a:t>
            </a:r>
            <a:r>
              <a:rPr dirty="0" sz="2050" b="1">
                <a:solidFill>
                  <a:srgbClr val="DFE3E6"/>
                </a:solidFill>
                <a:latin typeface="Arial"/>
                <a:cs typeface="Arial"/>
              </a:rPr>
              <a:t>Driven</a:t>
            </a:r>
            <a:r>
              <a:rPr dirty="0" sz="2050" spc="10" b="1">
                <a:solidFill>
                  <a:srgbClr val="DFE3E6"/>
                </a:solidFill>
                <a:latin typeface="Arial"/>
                <a:cs typeface="Arial"/>
              </a:rPr>
              <a:t> </a:t>
            </a:r>
            <a:r>
              <a:rPr dirty="0" sz="2050" spc="-10" b="1">
                <a:solidFill>
                  <a:srgbClr val="DFE3E6"/>
                </a:solidFill>
                <a:latin typeface="Arial"/>
                <a:cs typeface="Arial"/>
              </a:rPr>
              <a:t>Forecasting</a:t>
            </a:r>
            <a:endParaRPr sz="2050">
              <a:latin typeface="Arial"/>
              <a:cs typeface="Arial"/>
            </a:endParaRPr>
          </a:p>
          <a:p>
            <a:pPr marL="12700" marR="125095">
              <a:lnSpc>
                <a:spcPct val="138400"/>
              </a:lnSpc>
              <a:spcBef>
                <a:spcPts val="994"/>
              </a:spcBef>
            </a:pPr>
            <a:r>
              <a:rPr dirty="0" sz="1800">
                <a:solidFill>
                  <a:srgbClr val="DFE3E6"/>
                </a:solidFill>
                <a:latin typeface="Tahoma"/>
                <a:cs typeface="Tahoma"/>
              </a:rPr>
              <a:t>Machine</a:t>
            </a:r>
            <a:r>
              <a:rPr dirty="0" sz="1800" spc="-55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DFE3E6"/>
                </a:solidFill>
                <a:latin typeface="Tahoma"/>
                <a:cs typeface="Tahoma"/>
              </a:rPr>
              <a:t>learning</a:t>
            </a:r>
            <a:r>
              <a:rPr dirty="0" sz="1800" spc="-130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DFE3E6"/>
                </a:solidFill>
                <a:latin typeface="Tahoma"/>
                <a:cs typeface="Tahoma"/>
              </a:rPr>
              <a:t>algorithms </a:t>
            </a:r>
            <a:r>
              <a:rPr dirty="0" sz="1800">
                <a:solidFill>
                  <a:srgbClr val="DFE3E6"/>
                </a:solidFill>
                <a:latin typeface="Tahoma"/>
                <a:cs typeface="Tahoma"/>
              </a:rPr>
              <a:t>replace</a:t>
            </a:r>
            <a:r>
              <a:rPr dirty="0" sz="1800" spc="5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DFE3E6"/>
                </a:solidFill>
                <a:latin typeface="Tahoma"/>
                <a:cs typeface="Tahoma"/>
              </a:rPr>
              <a:t>guesswork</a:t>
            </a:r>
            <a:r>
              <a:rPr dirty="0" sz="1800" spc="40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800" spc="-20">
                <a:solidFill>
                  <a:srgbClr val="DFE3E6"/>
                </a:solidFill>
                <a:latin typeface="Tahoma"/>
                <a:cs typeface="Tahoma"/>
              </a:rPr>
              <a:t>with </a:t>
            </a:r>
            <a:r>
              <a:rPr dirty="0" sz="1800">
                <a:solidFill>
                  <a:srgbClr val="DFE3E6"/>
                </a:solidFill>
                <a:latin typeface="Tahoma"/>
                <a:cs typeface="Tahoma"/>
              </a:rPr>
              <a:t>precision</a:t>
            </a:r>
            <a:r>
              <a:rPr dirty="0" sz="1800" spc="240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DFE3E6"/>
                </a:solidFill>
                <a:latin typeface="Tahoma"/>
                <a:cs typeface="Tahoma"/>
              </a:rPr>
              <a:t>predictions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827532" y="5102352"/>
            <a:ext cx="7493634" cy="2345690"/>
            <a:chOff x="827532" y="5102352"/>
            <a:chExt cx="7493634" cy="2345690"/>
          </a:xfrm>
        </p:grpSpPr>
        <p:sp>
          <p:nvSpPr>
            <p:cNvPr id="17" name="object 17" descr=""/>
            <p:cNvSpPr/>
            <p:nvPr/>
          </p:nvSpPr>
          <p:spPr>
            <a:xfrm>
              <a:off x="838962" y="5113782"/>
              <a:ext cx="7470775" cy="2322830"/>
            </a:xfrm>
            <a:custGeom>
              <a:avLst/>
              <a:gdLst/>
              <a:ahLst/>
              <a:cxnLst/>
              <a:rect l="l" t="t" r="r" b="b"/>
              <a:pathLst>
                <a:path w="7470775" h="2322829">
                  <a:moveTo>
                    <a:pt x="7111619" y="0"/>
                  </a:moveTo>
                  <a:lnTo>
                    <a:pt x="359016" y="0"/>
                  </a:lnTo>
                  <a:lnTo>
                    <a:pt x="310301" y="3278"/>
                  </a:lnTo>
                  <a:lnTo>
                    <a:pt x="263577" y="12827"/>
                  </a:lnTo>
                  <a:lnTo>
                    <a:pt x="219273" y="28219"/>
                  </a:lnTo>
                  <a:lnTo>
                    <a:pt x="177816" y="49026"/>
                  </a:lnTo>
                  <a:lnTo>
                    <a:pt x="139635" y="74820"/>
                  </a:lnTo>
                  <a:lnTo>
                    <a:pt x="105156" y="105171"/>
                  </a:lnTo>
                  <a:lnTo>
                    <a:pt x="74807" y="139653"/>
                  </a:lnTo>
                  <a:lnTo>
                    <a:pt x="49017" y="177837"/>
                  </a:lnTo>
                  <a:lnTo>
                    <a:pt x="28214" y="219295"/>
                  </a:lnTo>
                  <a:lnTo>
                    <a:pt x="12824" y="263598"/>
                  </a:lnTo>
                  <a:lnTo>
                    <a:pt x="3277" y="310319"/>
                  </a:lnTo>
                  <a:lnTo>
                    <a:pt x="0" y="359029"/>
                  </a:lnTo>
                  <a:lnTo>
                    <a:pt x="0" y="1963559"/>
                  </a:lnTo>
                  <a:lnTo>
                    <a:pt x="3277" y="2012274"/>
                  </a:lnTo>
                  <a:lnTo>
                    <a:pt x="12824" y="2058998"/>
                  </a:lnTo>
                  <a:lnTo>
                    <a:pt x="28214" y="2103302"/>
                  </a:lnTo>
                  <a:lnTo>
                    <a:pt x="49017" y="2144759"/>
                  </a:lnTo>
                  <a:lnTo>
                    <a:pt x="74807" y="2182940"/>
                  </a:lnTo>
                  <a:lnTo>
                    <a:pt x="105155" y="2217420"/>
                  </a:lnTo>
                  <a:lnTo>
                    <a:pt x="139635" y="2247768"/>
                  </a:lnTo>
                  <a:lnTo>
                    <a:pt x="177816" y="2273558"/>
                  </a:lnTo>
                  <a:lnTo>
                    <a:pt x="219273" y="2294361"/>
                  </a:lnTo>
                  <a:lnTo>
                    <a:pt x="263577" y="2309751"/>
                  </a:lnTo>
                  <a:lnTo>
                    <a:pt x="310301" y="2319298"/>
                  </a:lnTo>
                  <a:lnTo>
                    <a:pt x="359016" y="2322576"/>
                  </a:lnTo>
                  <a:lnTo>
                    <a:pt x="7111619" y="2322576"/>
                  </a:lnTo>
                  <a:lnTo>
                    <a:pt x="7160328" y="2319298"/>
                  </a:lnTo>
                  <a:lnTo>
                    <a:pt x="7207049" y="2309751"/>
                  </a:lnTo>
                  <a:lnTo>
                    <a:pt x="7251352" y="2294361"/>
                  </a:lnTo>
                  <a:lnTo>
                    <a:pt x="7292810" y="2273558"/>
                  </a:lnTo>
                  <a:lnTo>
                    <a:pt x="7330994" y="2247768"/>
                  </a:lnTo>
                  <a:lnTo>
                    <a:pt x="7365476" y="2217420"/>
                  </a:lnTo>
                  <a:lnTo>
                    <a:pt x="7395827" y="2182940"/>
                  </a:lnTo>
                  <a:lnTo>
                    <a:pt x="7421621" y="2144759"/>
                  </a:lnTo>
                  <a:lnTo>
                    <a:pt x="7442428" y="2103302"/>
                  </a:lnTo>
                  <a:lnTo>
                    <a:pt x="7457820" y="2058998"/>
                  </a:lnTo>
                  <a:lnTo>
                    <a:pt x="7467369" y="2012274"/>
                  </a:lnTo>
                  <a:lnTo>
                    <a:pt x="7470648" y="1963559"/>
                  </a:lnTo>
                  <a:lnTo>
                    <a:pt x="7470648" y="359029"/>
                  </a:lnTo>
                  <a:lnTo>
                    <a:pt x="7467369" y="310319"/>
                  </a:lnTo>
                  <a:lnTo>
                    <a:pt x="7457820" y="263598"/>
                  </a:lnTo>
                  <a:lnTo>
                    <a:pt x="7442428" y="219295"/>
                  </a:lnTo>
                  <a:lnTo>
                    <a:pt x="7421621" y="177837"/>
                  </a:lnTo>
                  <a:lnTo>
                    <a:pt x="7395827" y="139653"/>
                  </a:lnTo>
                  <a:lnTo>
                    <a:pt x="7365476" y="105171"/>
                  </a:lnTo>
                  <a:lnTo>
                    <a:pt x="7330994" y="74820"/>
                  </a:lnTo>
                  <a:lnTo>
                    <a:pt x="7292810" y="49026"/>
                  </a:lnTo>
                  <a:lnTo>
                    <a:pt x="7251352" y="28219"/>
                  </a:lnTo>
                  <a:lnTo>
                    <a:pt x="7207049" y="12827"/>
                  </a:lnTo>
                  <a:lnTo>
                    <a:pt x="7160328" y="3278"/>
                  </a:lnTo>
                  <a:lnTo>
                    <a:pt x="7111619" y="0"/>
                  </a:lnTo>
                  <a:close/>
                </a:path>
              </a:pathLst>
            </a:custGeom>
            <a:solidFill>
              <a:srgbClr val="09081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838962" y="5113782"/>
              <a:ext cx="7470775" cy="2322830"/>
            </a:xfrm>
            <a:custGeom>
              <a:avLst/>
              <a:gdLst/>
              <a:ahLst/>
              <a:cxnLst/>
              <a:rect l="l" t="t" r="r" b="b"/>
              <a:pathLst>
                <a:path w="7470775" h="2322829">
                  <a:moveTo>
                    <a:pt x="0" y="359029"/>
                  </a:moveTo>
                  <a:lnTo>
                    <a:pt x="3277" y="310319"/>
                  </a:lnTo>
                  <a:lnTo>
                    <a:pt x="12824" y="263598"/>
                  </a:lnTo>
                  <a:lnTo>
                    <a:pt x="28214" y="219295"/>
                  </a:lnTo>
                  <a:lnTo>
                    <a:pt x="49017" y="177837"/>
                  </a:lnTo>
                  <a:lnTo>
                    <a:pt x="74807" y="139653"/>
                  </a:lnTo>
                  <a:lnTo>
                    <a:pt x="105156" y="105171"/>
                  </a:lnTo>
                  <a:lnTo>
                    <a:pt x="139635" y="74820"/>
                  </a:lnTo>
                  <a:lnTo>
                    <a:pt x="177816" y="49026"/>
                  </a:lnTo>
                  <a:lnTo>
                    <a:pt x="219273" y="28219"/>
                  </a:lnTo>
                  <a:lnTo>
                    <a:pt x="263577" y="12827"/>
                  </a:lnTo>
                  <a:lnTo>
                    <a:pt x="310301" y="3278"/>
                  </a:lnTo>
                  <a:lnTo>
                    <a:pt x="359016" y="0"/>
                  </a:lnTo>
                  <a:lnTo>
                    <a:pt x="7111619" y="0"/>
                  </a:lnTo>
                  <a:lnTo>
                    <a:pt x="7160328" y="3278"/>
                  </a:lnTo>
                  <a:lnTo>
                    <a:pt x="7207049" y="12827"/>
                  </a:lnTo>
                  <a:lnTo>
                    <a:pt x="7251352" y="28219"/>
                  </a:lnTo>
                  <a:lnTo>
                    <a:pt x="7292810" y="49026"/>
                  </a:lnTo>
                  <a:lnTo>
                    <a:pt x="7330994" y="74820"/>
                  </a:lnTo>
                  <a:lnTo>
                    <a:pt x="7365476" y="105171"/>
                  </a:lnTo>
                  <a:lnTo>
                    <a:pt x="7395827" y="139653"/>
                  </a:lnTo>
                  <a:lnTo>
                    <a:pt x="7421621" y="177837"/>
                  </a:lnTo>
                  <a:lnTo>
                    <a:pt x="7442428" y="219295"/>
                  </a:lnTo>
                  <a:lnTo>
                    <a:pt x="7457820" y="263598"/>
                  </a:lnTo>
                  <a:lnTo>
                    <a:pt x="7467369" y="310319"/>
                  </a:lnTo>
                  <a:lnTo>
                    <a:pt x="7470648" y="359029"/>
                  </a:lnTo>
                  <a:lnTo>
                    <a:pt x="7470648" y="1963559"/>
                  </a:lnTo>
                  <a:lnTo>
                    <a:pt x="7467369" y="2012274"/>
                  </a:lnTo>
                  <a:lnTo>
                    <a:pt x="7457820" y="2058998"/>
                  </a:lnTo>
                  <a:lnTo>
                    <a:pt x="7442428" y="2103302"/>
                  </a:lnTo>
                  <a:lnTo>
                    <a:pt x="7421621" y="2144759"/>
                  </a:lnTo>
                  <a:lnTo>
                    <a:pt x="7395827" y="2182940"/>
                  </a:lnTo>
                  <a:lnTo>
                    <a:pt x="7365476" y="2217420"/>
                  </a:lnTo>
                  <a:lnTo>
                    <a:pt x="7330994" y="2247768"/>
                  </a:lnTo>
                  <a:lnTo>
                    <a:pt x="7292810" y="2273558"/>
                  </a:lnTo>
                  <a:lnTo>
                    <a:pt x="7251352" y="2294361"/>
                  </a:lnTo>
                  <a:lnTo>
                    <a:pt x="7207049" y="2309751"/>
                  </a:lnTo>
                  <a:lnTo>
                    <a:pt x="7160328" y="2319298"/>
                  </a:lnTo>
                  <a:lnTo>
                    <a:pt x="7111619" y="2322576"/>
                  </a:lnTo>
                  <a:lnTo>
                    <a:pt x="359016" y="2322576"/>
                  </a:lnTo>
                  <a:lnTo>
                    <a:pt x="310301" y="2319298"/>
                  </a:lnTo>
                  <a:lnTo>
                    <a:pt x="263577" y="2309751"/>
                  </a:lnTo>
                  <a:lnTo>
                    <a:pt x="219273" y="2294361"/>
                  </a:lnTo>
                  <a:lnTo>
                    <a:pt x="177816" y="2273558"/>
                  </a:lnTo>
                  <a:lnTo>
                    <a:pt x="139635" y="2247768"/>
                  </a:lnTo>
                  <a:lnTo>
                    <a:pt x="105155" y="2217420"/>
                  </a:lnTo>
                  <a:lnTo>
                    <a:pt x="74807" y="2182940"/>
                  </a:lnTo>
                  <a:lnTo>
                    <a:pt x="49017" y="2144759"/>
                  </a:lnTo>
                  <a:lnTo>
                    <a:pt x="28214" y="2103302"/>
                  </a:lnTo>
                  <a:lnTo>
                    <a:pt x="12824" y="2058998"/>
                  </a:lnTo>
                  <a:lnTo>
                    <a:pt x="3277" y="2012274"/>
                  </a:lnTo>
                  <a:lnTo>
                    <a:pt x="0" y="1963559"/>
                  </a:lnTo>
                  <a:lnTo>
                    <a:pt x="0" y="359029"/>
                  </a:lnTo>
                  <a:close/>
                </a:path>
              </a:pathLst>
            </a:custGeom>
            <a:ln w="22860">
              <a:solidFill>
                <a:srgbClr val="37A7E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097280" y="5376672"/>
              <a:ext cx="718185" cy="718185"/>
            </a:xfrm>
            <a:custGeom>
              <a:avLst/>
              <a:gdLst/>
              <a:ahLst/>
              <a:cxnLst/>
              <a:rect l="l" t="t" r="r" b="b"/>
              <a:pathLst>
                <a:path w="718185" h="718185">
                  <a:moveTo>
                    <a:pt x="358901" y="0"/>
                  </a:moveTo>
                  <a:lnTo>
                    <a:pt x="310199" y="3275"/>
                  </a:lnTo>
                  <a:lnTo>
                    <a:pt x="263489" y="12818"/>
                  </a:lnTo>
                  <a:lnTo>
                    <a:pt x="219198" y="28199"/>
                  </a:lnTo>
                  <a:lnTo>
                    <a:pt x="177754" y="48993"/>
                  </a:lnTo>
                  <a:lnTo>
                    <a:pt x="139585" y="74772"/>
                  </a:lnTo>
                  <a:lnTo>
                    <a:pt x="105117" y="105108"/>
                  </a:lnTo>
                  <a:lnTo>
                    <a:pt x="74780" y="139574"/>
                  </a:lnTo>
                  <a:lnTo>
                    <a:pt x="48999" y="177743"/>
                  </a:lnTo>
                  <a:lnTo>
                    <a:pt x="28203" y="219188"/>
                  </a:lnTo>
                  <a:lnTo>
                    <a:pt x="12819" y="263480"/>
                  </a:lnTo>
                  <a:lnTo>
                    <a:pt x="3276" y="310194"/>
                  </a:lnTo>
                  <a:lnTo>
                    <a:pt x="0" y="358901"/>
                  </a:lnTo>
                  <a:lnTo>
                    <a:pt x="3276" y="407609"/>
                  </a:lnTo>
                  <a:lnTo>
                    <a:pt x="12819" y="454323"/>
                  </a:lnTo>
                  <a:lnTo>
                    <a:pt x="28203" y="498615"/>
                  </a:lnTo>
                  <a:lnTo>
                    <a:pt x="48999" y="540060"/>
                  </a:lnTo>
                  <a:lnTo>
                    <a:pt x="74780" y="578229"/>
                  </a:lnTo>
                  <a:lnTo>
                    <a:pt x="105117" y="612695"/>
                  </a:lnTo>
                  <a:lnTo>
                    <a:pt x="139585" y="643031"/>
                  </a:lnTo>
                  <a:lnTo>
                    <a:pt x="177754" y="668810"/>
                  </a:lnTo>
                  <a:lnTo>
                    <a:pt x="219198" y="689604"/>
                  </a:lnTo>
                  <a:lnTo>
                    <a:pt x="263489" y="704985"/>
                  </a:lnTo>
                  <a:lnTo>
                    <a:pt x="310199" y="714528"/>
                  </a:lnTo>
                  <a:lnTo>
                    <a:pt x="358901" y="717803"/>
                  </a:lnTo>
                  <a:lnTo>
                    <a:pt x="407609" y="714528"/>
                  </a:lnTo>
                  <a:lnTo>
                    <a:pt x="454323" y="704985"/>
                  </a:lnTo>
                  <a:lnTo>
                    <a:pt x="498615" y="689604"/>
                  </a:lnTo>
                  <a:lnTo>
                    <a:pt x="540060" y="668810"/>
                  </a:lnTo>
                  <a:lnTo>
                    <a:pt x="578229" y="643031"/>
                  </a:lnTo>
                  <a:lnTo>
                    <a:pt x="612695" y="612695"/>
                  </a:lnTo>
                  <a:lnTo>
                    <a:pt x="643031" y="578229"/>
                  </a:lnTo>
                  <a:lnTo>
                    <a:pt x="668810" y="540060"/>
                  </a:lnTo>
                  <a:lnTo>
                    <a:pt x="689604" y="498615"/>
                  </a:lnTo>
                  <a:lnTo>
                    <a:pt x="704985" y="454323"/>
                  </a:lnTo>
                  <a:lnTo>
                    <a:pt x="714528" y="407609"/>
                  </a:lnTo>
                  <a:lnTo>
                    <a:pt x="717803" y="358901"/>
                  </a:lnTo>
                  <a:lnTo>
                    <a:pt x="714528" y="310194"/>
                  </a:lnTo>
                  <a:lnTo>
                    <a:pt x="704985" y="263480"/>
                  </a:lnTo>
                  <a:lnTo>
                    <a:pt x="689604" y="219188"/>
                  </a:lnTo>
                  <a:lnTo>
                    <a:pt x="668810" y="177743"/>
                  </a:lnTo>
                  <a:lnTo>
                    <a:pt x="643031" y="139574"/>
                  </a:lnTo>
                  <a:lnTo>
                    <a:pt x="612695" y="105108"/>
                  </a:lnTo>
                  <a:lnTo>
                    <a:pt x="578229" y="74772"/>
                  </a:lnTo>
                  <a:lnTo>
                    <a:pt x="540060" y="48993"/>
                  </a:lnTo>
                  <a:lnTo>
                    <a:pt x="498615" y="28199"/>
                  </a:lnTo>
                  <a:lnTo>
                    <a:pt x="454323" y="12818"/>
                  </a:lnTo>
                  <a:lnTo>
                    <a:pt x="407609" y="3275"/>
                  </a:lnTo>
                  <a:lnTo>
                    <a:pt x="358901" y="0"/>
                  </a:lnTo>
                  <a:close/>
                </a:path>
              </a:pathLst>
            </a:custGeom>
            <a:solidFill>
              <a:srgbClr val="37A7E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98448" y="5573268"/>
              <a:ext cx="320040" cy="320039"/>
            </a:xfrm>
            <a:prstGeom prst="rect">
              <a:avLst/>
            </a:prstGeom>
          </p:spPr>
        </p:pic>
      </p:grpSp>
      <p:sp>
        <p:nvSpPr>
          <p:cNvPr id="21" name="object 21" descr=""/>
          <p:cNvSpPr txBox="1"/>
          <p:nvPr/>
        </p:nvSpPr>
        <p:spPr>
          <a:xfrm>
            <a:off x="1086713" y="6301485"/>
            <a:ext cx="6348730" cy="8451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50" b="1">
                <a:solidFill>
                  <a:srgbClr val="DFE3E6"/>
                </a:solidFill>
                <a:latin typeface="Arial"/>
                <a:cs typeface="Arial"/>
              </a:rPr>
              <a:t>Perfect</a:t>
            </a:r>
            <a:r>
              <a:rPr dirty="0" sz="2050" spc="-50" b="1">
                <a:solidFill>
                  <a:srgbClr val="DFE3E6"/>
                </a:solidFill>
                <a:latin typeface="Arial"/>
                <a:cs typeface="Arial"/>
              </a:rPr>
              <a:t> </a:t>
            </a:r>
            <a:r>
              <a:rPr dirty="0" sz="2050" spc="-10" b="1">
                <a:solidFill>
                  <a:srgbClr val="DFE3E6"/>
                </a:solidFill>
                <a:latin typeface="Arial"/>
                <a:cs typeface="Arial"/>
              </a:rPr>
              <a:t>Portions</a:t>
            </a:r>
            <a:endParaRPr sz="2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dirty="0" sz="1800">
                <a:solidFill>
                  <a:srgbClr val="DFE3E6"/>
                </a:solidFill>
                <a:latin typeface="Tahoma"/>
                <a:cs typeface="Tahoma"/>
              </a:rPr>
              <a:t>Cook</a:t>
            </a:r>
            <a:r>
              <a:rPr dirty="0" sz="1800" spc="-55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DFE3E6"/>
                </a:solidFill>
                <a:latin typeface="Tahoma"/>
                <a:cs typeface="Tahoma"/>
              </a:rPr>
              <a:t>exactly</a:t>
            </a:r>
            <a:r>
              <a:rPr dirty="0" sz="1800" spc="-90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DFE3E6"/>
                </a:solidFill>
                <a:latin typeface="Tahoma"/>
                <a:cs typeface="Tahoma"/>
              </a:rPr>
              <a:t>what's</a:t>
            </a:r>
            <a:r>
              <a:rPr dirty="0" sz="1800" spc="-45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DFE3E6"/>
                </a:solidFill>
                <a:latin typeface="Tahoma"/>
                <a:cs typeface="Tahoma"/>
              </a:rPr>
              <a:t>needed,</a:t>
            </a:r>
            <a:r>
              <a:rPr dirty="0" sz="1800" spc="55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DFE3E6"/>
                </a:solidFill>
                <a:latin typeface="Tahoma"/>
                <a:cs typeface="Tahoma"/>
              </a:rPr>
              <a:t>eliminating</a:t>
            </a:r>
            <a:r>
              <a:rPr dirty="0" sz="1800" spc="10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DFE3E6"/>
                </a:solidFill>
                <a:latin typeface="Tahoma"/>
                <a:cs typeface="Tahoma"/>
              </a:rPr>
              <a:t>overproduction</a:t>
            </a:r>
            <a:r>
              <a:rPr dirty="0" sz="1800" spc="15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DFE3E6"/>
                </a:solidFill>
                <a:latin typeface="Tahoma"/>
                <a:cs typeface="Tahoma"/>
              </a:rPr>
              <a:t>waste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1712" y="928572"/>
            <a:ext cx="6139815" cy="67881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4250"/>
              <a:t>How</a:t>
            </a:r>
            <a:r>
              <a:rPr dirty="0" sz="4250" spc="-204"/>
              <a:t> </a:t>
            </a:r>
            <a:r>
              <a:rPr dirty="0" sz="4250"/>
              <a:t>Smart</a:t>
            </a:r>
            <a:r>
              <a:rPr dirty="0" sz="4250" spc="-35"/>
              <a:t> </a:t>
            </a:r>
            <a:r>
              <a:rPr dirty="0" sz="4250"/>
              <a:t>Mess</a:t>
            </a:r>
            <a:r>
              <a:rPr dirty="0" sz="4250" spc="95"/>
              <a:t> </a:t>
            </a:r>
            <a:r>
              <a:rPr dirty="0" sz="4250" spc="-10"/>
              <a:t>Works</a:t>
            </a:r>
            <a:endParaRPr sz="4250"/>
          </a:p>
        </p:txBody>
      </p:sp>
      <p:sp>
        <p:nvSpPr>
          <p:cNvPr id="3" name="object 3" descr=""/>
          <p:cNvSpPr txBox="1"/>
          <p:nvPr/>
        </p:nvSpPr>
        <p:spPr>
          <a:xfrm>
            <a:off x="851712" y="2190699"/>
            <a:ext cx="7820025" cy="3168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900">
                <a:solidFill>
                  <a:srgbClr val="DFE3E6"/>
                </a:solidFill>
                <a:latin typeface="Tahoma"/>
                <a:cs typeface="Tahoma"/>
              </a:rPr>
              <a:t>Role-based</a:t>
            </a:r>
            <a:r>
              <a:rPr dirty="0" sz="1900" spc="-130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 spc="60">
                <a:solidFill>
                  <a:srgbClr val="DFE3E6"/>
                </a:solidFill>
                <a:latin typeface="Tahoma"/>
                <a:cs typeface="Tahoma"/>
              </a:rPr>
              <a:t>access</a:t>
            </a:r>
            <a:r>
              <a:rPr dirty="0" sz="1900" spc="-204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DFE3E6"/>
                </a:solidFill>
                <a:latin typeface="Tahoma"/>
                <a:cs typeface="Tahoma"/>
              </a:rPr>
              <a:t>ensures</a:t>
            </a:r>
            <a:r>
              <a:rPr dirty="0" sz="1900" spc="-155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DFE3E6"/>
                </a:solidFill>
                <a:latin typeface="Tahoma"/>
                <a:cs typeface="Tahoma"/>
              </a:rPr>
              <a:t>seamless</a:t>
            </a:r>
            <a:r>
              <a:rPr dirty="0" sz="1900" spc="-155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DFE3E6"/>
                </a:solidFill>
                <a:latin typeface="Tahoma"/>
                <a:cs typeface="Tahoma"/>
              </a:rPr>
              <a:t>coordination</a:t>
            </a:r>
            <a:r>
              <a:rPr dirty="0" sz="1900" spc="-250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DFE3E6"/>
                </a:solidFill>
                <a:latin typeface="Tahoma"/>
                <a:cs typeface="Tahoma"/>
              </a:rPr>
              <a:t>across</a:t>
            </a:r>
            <a:r>
              <a:rPr dirty="0" sz="1900" spc="-155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 spc="-20">
                <a:solidFill>
                  <a:srgbClr val="DFE3E6"/>
                </a:solidFill>
                <a:latin typeface="Tahoma"/>
                <a:cs typeface="Tahoma"/>
              </a:rPr>
              <a:t>all</a:t>
            </a:r>
            <a:r>
              <a:rPr dirty="0" sz="1900" spc="-100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DFE3E6"/>
                </a:solidFill>
                <a:latin typeface="Tahoma"/>
                <a:cs typeface="Tahoma"/>
              </a:rPr>
              <a:t>stakeholders:</a:t>
            </a:r>
            <a:endParaRPr sz="1900">
              <a:latin typeface="Tahoma"/>
              <a:cs typeface="Tahoma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850391" y="3547871"/>
            <a:ext cx="4170045" cy="772795"/>
            <a:chOff x="850391" y="3547871"/>
            <a:chExt cx="4170045" cy="772795"/>
          </a:xfrm>
        </p:grpSpPr>
        <p:sp>
          <p:nvSpPr>
            <p:cNvPr id="5" name="object 5" descr=""/>
            <p:cNvSpPr/>
            <p:nvPr/>
          </p:nvSpPr>
          <p:spPr>
            <a:xfrm>
              <a:off x="1236725" y="3810761"/>
              <a:ext cx="3767454" cy="247015"/>
            </a:xfrm>
            <a:custGeom>
              <a:avLst/>
              <a:gdLst/>
              <a:ahLst/>
              <a:cxnLst/>
              <a:rect l="l" t="t" r="r" b="b"/>
              <a:pathLst>
                <a:path w="3767454" h="247014">
                  <a:moveTo>
                    <a:pt x="3643884" y="0"/>
                  </a:moveTo>
                  <a:lnTo>
                    <a:pt x="123443" y="0"/>
                  </a:lnTo>
                  <a:lnTo>
                    <a:pt x="75384" y="9697"/>
                  </a:lnTo>
                  <a:lnTo>
                    <a:pt x="36147" y="36147"/>
                  </a:lnTo>
                  <a:lnTo>
                    <a:pt x="9697" y="75384"/>
                  </a:lnTo>
                  <a:lnTo>
                    <a:pt x="0" y="123443"/>
                  </a:lnTo>
                  <a:lnTo>
                    <a:pt x="9697" y="171503"/>
                  </a:lnTo>
                  <a:lnTo>
                    <a:pt x="36147" y="210740"/>
                  </a:lnTo>
                  <a:lnTo>
                    <a:pt x="75384" y="237190"/>
                  </a:lnTo>
                  <a:lnTo>
                    <a:pt x="123443" y="246887"/>
                  </a:lnTo>
                  <a:lnTo>
                    <a:pt x="3643884" y="246887"/>
                  </a:lnTo>
                  <a:lnTo>
                    <a:pt x="3691943" y="237190"/>
                  </a:lnTo>
                  <a:lnTo>
                    <a:pt x="3731180" y="210740"/>
                  </a:lnTo>
                  <a:lnTo>
                    <a:pt x="3757630" y="171503"/>
                  </a:lnTo>
                  <a:lnTo>
                    <a:pt x="3767328" y="123443"/>
                  </a:lnTo>
                  <a:lnTo>
                    <a:pt x="3757630" y="75384"/>
                  </a:lnTo>
                  <a:lnTo>
                    <a:pt x="3731180" y="36147"/>
                  </a:lnTo>
                  <a:lnTo>
                    <a:pt x="3691943" y="9697"/>
                  </a:lnTo>
                  <a:lnTo>
                    <a:pt x="3643884" y="0"/>
                  </a:lnTo>
                  <a:close/>
                </a:path>
              </a:pathLst>
            </a:custGeom>
            <a:solidFill>
              <a:srgbClr val="09081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236725" y="3810761"/>
              <a:ext cx="3767454" cy="247015"/>
            </a:xfrm>
            <a:custGeom>
              <a:avLst/>
              <a:gdLst/>
              <a:ahLst/>
              <a:cxnLst/>
              <a:rect l="l" t="t" r="r" b="b"/>
              <a:pathLst>
                <a:path w="3767454" h="247014">
                  <a:moveTo>
                    <a:pt x="0" y="123443"/>
                  </a:moveTo>
                  <a:lnTo>
                    <a:pt x="9697" y="75384"/>
                  </a:lnTo>
                  <a:lnTo>
                    <a:pt x="36147" y="36147"/>
                  </a:lnTo>
                  <a:lnTo>
                    <a:pt x="75384" y="9697"/>
                  </a:lnTo>
                  <a:lnTo>
                    <a:pt x="123443" y="0"/>
                  </a:lnTo>
                  <a:lnTo>
                    <a:pt x="3643884" y="0"/>
                  </a:lnTo>
                  <a:lnTo>
                    <a:pt x="3691943" y="9697"/>
                  </a:lnTo>
                  <a:lnTo>
                    <a:pt x="3731180" y="36147"/>
                  </a:lnTo>
                  <a:lnTo>
                    <a:pt x="3757630" y="75384"/>
                  </a:lnTo>
                  <a:lnTo>
                    <a:pt x="3767328" y="123443"/>
                  </a:lnTo>
                  <a:lnTo>
                    <a:pt x="3757630" y="171503"/>
                  </a:lnTo>
                  <a:lnTo>
                    <a:pt x="3731180" y="210740"/>
                  </a:lnTo>
                  <a:lnTo>
                    <a:pt x="3691943" y="237190"/>
                  </a:lnTo>
                  <a:lnTo>
                    <a:pt x="3643884" y="246887"/>
                  </a:lnTo>
                  <a:lnTo>
                    <a:pt x="123443" y="246887"/>
                  </a:lnTo>
                  <a:lnTo>
                    <a:pt x="75384" y="237190"/>
                  </a:lnTo>
                  <a:lnTo>
                    <a:pt x="36147" y="210740"/>
                  </a:lnTo>
                  <a:lnTo>
                    <a:pt x="9697" y="171503"/>
                  </a:lnTo>
                  <a:lnTo>
                    <a:pt x="0" y="123443"/>
                  </a:lnTo>
                  <a:close/>
                </a:path>
              </a:pathLst>
            </a:custGeom>
            <a:ln w="32004">
              <a:solidFill>
                <a:srgbClr val="16FFB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866393" y="3563873"/>
              <a:ext cx="741045" cy="741045"/>
            </a:xfrm>
            <a:custGeom>
              <a:avLst/>
              <a:gdLst/>
              <a:ahLst/>
              <a:cxnLst/>
              <a:rect l="l" t="t" r="r" b="b"/>
              <a:pathLst>
                <a:path w="741044" h="741045">
                  <a:moveTo>
                    <a:pt x="370331" y="0"/>
                  </a:moveTo>
                  <a:lnTo>
                    <a:pt x="323877" y="2886"/>
                  </a:lnTo>
                  <a:lnTo>
                    <a:pt x="279145" y="11313"/>
                  </a:lnTo>
                  <a:lnTo>
                    <a:pt x="236481" y="24934"/>
                  </a:lnTo>
                  <a:lnTo>
                    <a:pt x="196234" y="43401"/>
                  </a:lnTo>
                  <a:lnTo>
                    <a:pt x="158751" y="66367"/>
                  </a:lnTo>
                  <a:lnTo>
                    <a:pt x="124377" y="93483"/>
                  </a:lnTo>
                  <a:lnTo>
                    <a:pt x="93461" y="124403"/>
                  </a:lnTo>
                  <a:lnTo>
                    <a:pt x="66349" y="158779"/>
                  </a:lnTo>
                  <a:lnTo>
                    <a:pt x="43389" y="196263"/>
                  </a:lnTo>
                  <a:lnTo>
                    <a:pt x="24926" y="236507"/>
                  </a:lnTo>
                  <a:lnTo>
                    <a:pt x="11309" y="279166"/>
                  </a:lnTo>
                  <a:lnTo>
                    <a:pt x="2885" y="323889"/>
                  </a:lnTo>
                  <a:lnTo>
                    <a:pt x="0" y="370331"/>
                  </a:lnTo>
                  <a:lnTo>
                    <a:pt x="2885" y="416774"/>
                  </a:lnTo>
                  <a:lnTo>
                    <a:pt x="11309" y="461497"/>
                  </a:lnTo>
                  <a:lnTo>
                    <a:pt x="24926" y="504156"/>
                  </a:lnTo>
                  <a:lnTo>
                    <a:pt x="43389" y="544400"/>
                  </a:lnTo>
                  <a:lnTo>
                    <a:pt x="66349" y="581884"/>
                  </a:lnTo>
                  <a:lnTo>
                    <a:pt x="93461" y="616260"/>
                  </a:lnTo>
                  <a:lnTo>
                    <a:pt x="124377" y="647180"/>
                  </a:lnTo>
                  <a:lnTo>
                    <a:pt x="158751" y="674296"/>
                  </a:lnTo>
                  <a:lnTo>
                    <a:pt x="196234" y="697262"/>
                  </a:lnTo>
                  <a:lnTo>
                    <a:pt x="236481" y="715729"/>
                  </a:lnTo>
                  <a:lnTo>
                    <a:pt x="279145" y="729350"/>
                  </a:lnTo>
                  <a:lnTo>
                    <a:pt x="323877" y="737777"/>
                  </a:lnTo>
                  <a:lnTo>
                    <a:pt x="370331" y="740663"/>
                  </a:lnTo>
                  <a:lnTo>
                    <a:pt x="416774" y="737777"/>
                  </a:lnTo>
                  <a:lnTo>
                    <a:pt x="461497" y="729350"/>
                  </a:lnTo>
                  <a:lnTo>
                    <a:pt x="504156" y="715729"/>
                  </a:lnTo>
                  <a:lnTo>
                    <a:pt x="544400" y="697262"/>
                  </a:lnTo>
                  <a:lnTo>
                    <a:pt x="581884" y="674296"/>
                  </a:lnTo>
                  <a:lnTo>
                    <a:pt x="616260" y="647180"/>
                  </a:lnTo>
                  <a:lnTo>
                    <a:pt x="647180" y="616260"/>
                  </a:lnTo>
                  <a:lnTo>
                    <a:pt x="674296" y="581884"/>
                  </a:lnTo>
                  <a:lnTo>
                    <a:pt x="697262" y="544400"/>
                  </a:lnTo>
                  <a:lnTo>
                    <a:pt x="715729" y="504156"/>
                  </a:lnTo>
                  <a:lnTo>
                    <a:pt x="729350" y="461497"/>
                  </a:lnTo>
                  <a:lnTo>
                    <a:pt x="737777" y="416774"/>
                  </a:lnTo>
                  <a:lnTo>
                    <a:pt x="740664" y="370331"/>
                  </a:lnTo>
                  <a:lnTo>
                    <a:pt x="737777" y="323889"/>
                  </a:lnTo>
                  <a:lnTo>
                    <a:pt x="729350" y="279166"/>
                  </a:lnTo>
                  <a:lnTo>
                    <a:pt x="715729" y="236507"/>
                  </a:lnTo>
                  <a:lnTo>
                    <a:pt x="697262" y="196263"/>
                  </a:lnTo>
                  <a:lnTo>
                    <a:pt x="674296" y="158779"/>
                  </a:lnTo>
                  <a:lnTo>
                    <a:pt x="647180" y="124403"/>
                  </a:lnTo>
                  <a:lnTo>
                    <a:pt x="616260" y="93483"/>
                  </a:lnTo>
                  <a:lnTo>
                    <a:pt x="581884" y="66367"/>
                  </a:lnTo>
                  <a:lnTo>
                    <a:pt x="544400" y="43401"/>
                  </a:lnTo>
                  <a:lnTo>
                    <a:pt x="504156" y="24934"/>
                  </a:lnTo>
                  <a:lnTo>
                    <a:pt x="461497" y="11313"/>
                  </a:lnTo>
                  <a:lnTo>
                    <a:pt x="416774" y="2886"/>
                  </a:lnTo>
                  <a:lnTo>
                    <a:pt x="370331" y="0"/>
                  </a:lnTo>
                  <a:close/>
                </a:path>
              </a:pathLst>
            </a:custGeom>
            <a:solidFill>
              <a:srgbClr val="09081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866393" y="3563873"/>
              <a:ext cx="741045" cy="741045"/>
            </a:xfrm>
            <a:custGeom>
              <a:avLst/>
              <a:gdLst/>
              <a:ahLst/>
              <a:cxnLst/>
              <a:rect l="l" t="t" r="r" b="b"/>
              <a:pathLst>
                <a:path w="741044" h="741045">
                  <a:moveTo>
                    <a:pt x="0" y="370331"/>
                  </a:moveTo>
                  <a:lnTo>
                    <a:pt x="2885" y="323889"/>
                  </a:lnTo>
                  <a:lnTo>
                    <a:pt x="11309" y="279166"/>
                  </a:lnTo>
                  <a:lnTo>
                    <a:pt x="24926" y="236507"/>
                  </a:lnTo>
                  <a:lnTo>
                    <a:pt x="43389" y="196263"/>
                  </a:lnTo>
                  <a:lnTo>
                    <a:pt x="66349" y="158779"/>
                  </a:lnTo>
                  <a:lnTo>
                    <a:pt x="93461" y="124403"/>
                  </a:lnTo>
                  <a:lnTo>
                    <a:pt x="124377" y="93483"/>
                  </a:lnTo>
                  <a:lnTo>
                    <a:pt x="158751" y="66367"/>
                  </a:lnTo>
                  <a:lnTo>
                    <a:pt x="196234" y="43401"/>
                  </a:lnTo>
                  <a:lnTo>
                    <a:pt x="236481" y="24934"/>
                  </a:lnTo>
                  <a:lnTo>
                    <a:pt x="279145" y="11313"/>
                  </a:lnTo>
                  <a:lnTo>
                    <a:pt x="323877" y="2886"/>
                  </a:lnTo>
                  <a:lnTo>
                    <a:pt x="370331" y="0"/>
                  </a:lnTo>
                  <a:lnTo>
                    <a:pt x="416774" y="2886"/>
                  </a:lnTo>
                  <a:lnTo>
                    <a:pt x="461497" y="11313"/>
                  </a:lnTo>
                  <a:lnTo>
                    <a:pt x="504156" y="24934"/>
                  </a:lnTo>
                  <a:lnTo>
                    <a:pt x="544400" y="43401"/>
                  </a:lnTo>
                  <a:lnTo>
                    <a:pt x="581884" y="66367"/>
                  </a:lnTo>
                  <a:lnTo>
                    <a:pt x="616260" y="93483"/>
                  </a:lnTo>
                  <a:lnTo>
                    <a:pt x="647180" y="124403"/>
                  </a:lnTo>
                  <a:lnTo>
                    <a:pt x="674296" y="158779"/>
                  </a:lnTo>
                  <a:lnTo>
                    <a:pt x="697262" y="196263"/>
                  </a:lnTo>
                  <a:lnTo>
                    <a:pt x="715729" y="236507"/>
                  </a:lnTo>
                  <a:lnTo>
                    <a:pt x="729350" y="279166"/>
                  </a:lnTo>
                  <a:lnTo>
                    <a:pt x="737777" y="323889"/>
                  </a:lnTo>
                  <a:lnTo>
                    <a:pt x="740664" y="370331"/>
                  </a:lnTo>
                  <a:lnTo>
                    <a:pt x="737777" y="416774"/>
                  </a:lnTo>
                  <a:lnTo>
                    <a:pt x="729350" y="461497"/>
                  </a:lnTo>
                  <a:lnTo>
                    <a:pt x="715729" y="504156"/>
                  </a:lnTo>
                  <a:lnTo>
                    <a:pt x="697262" y="544400"/>
                  </a:lnTo>
                  <a:lnTo>
                    <a:pt x="674296" y="581884"/>
                  </a:lnTo>
                  <a:lnTo>
                    <a:pt x="647180" y="616260"/>
                  </a:lnTo>
                  <a:lnTo>
                    <a:pt x="616260" y="647180"/>
                  </a:lnTo>
                  <a:lnTo>
                    <a:pt x="581884" y="674296"/>
                  </a:lnTo>
                  <a:lnTo>
                    <a:pt x="544400" y="697262"/>
                  </a:lnTo>
                  <a:lnTo>
                    <a:pt x="504156" y="715729"/>
                  </a:lnTo>
                  <a:lnTo>
                    <a:pt x="461497" y="729350"/>
                  </a:lnTo>
                  <a:lnTo>
                    <a:pt x="416774" y="737777"/>
                  </a:lnTo>
                  <a:lnTo>
                    <a:pt x="370331" y="740663"/>
                  </a:lnTo>
                  <a:lnTo>
                    <a:pt x="323877" y="737777"/>
                  </a:lnTo>
                  <a:lnTo>
                    <a:pt x="279145" y="729350"/>
                  </a:lnTo>
                  <a:lnTo>
                    <a:pt x="236481" y="715729"/>
                  </a:lnTo>
                  <a:lnTo>
                    <a:pt x="196234" y="697262"/>
                  </a:lnTo>
                  <a:lnTo>
                    <a:pt x="158751" y="674296"/>
                  </a:lnTo>
                  <a:lnTo>
                    <a:pt x="124377" y="647180"/>
                  </a:lnTo>
                  <a:lnTo>
                    <a:pt x="93461" y="616260"/>
                  </a:lnTo>
                  <a:lnTo>
                    <a:pt x="66349" y="581884"/>
                  </a:lnTo>
                  <a:lnTo>
                    <a:pt x="43389" y="544400"/>
                  </a:lnTo>
                  <a:lnTo>
                    <a:pt x="24926" y="504156"/>
                  </a:lnTo>
                  <a:lnTo>
                    <a:pt x="11309" y="461497"/>
                  </a:lnTo>
                  <a:lnTo>
                    <a:pt x="2885" y="416774"/>
                  </a:lnTo>
                  <a:lnTo>
                    <a:pt x="0" y="370331"/>
                  </a:lnTo>
                  <a:close/>
                </a:path>
              </a:pathLst>
            </a:custGeom>
            <a:ln w="32004">
              <a:solidFill>
                <a:srgbClr val="16FFB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6987" y="3744467"/>
              <a:ext cx="370331" cy="370332"/>
            </a:xfrm>
            <a:prstGeom prst="rect">
              <a:avLst/>
            </a:prstGeom>
          </p:spPr>
        </p:pic>
      </p:grpSp>
      <p:sp>
        <p:nvSpPr>
          <p:cNvPr id="10" name="object 10" descr=""/>
          <p:cNvSpPr txBox="1"/>
          <p:nvPr/>
        </p:nvSpPr>
        <p:spPr>
          <a:xfrm>
            <a:off x="1098600" y="4519929"/>
            <a:ext cx="3498215" cy="245427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150" spc="-10" b="1">
                <a:solidFill>
                  <a:srgbClr val="DFE3E6"/>
                </a:solidFill>
                <a:latin typeface="Arial"/>
                <a:cs typeface="Arial"/>
              </a:rPr>
              <a:t>Students</a:t>
            </a:r>
            <a:endParaRPr sz="2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860"/>
              </a:spcBef>
            </a:pPr>
            <a:r>
              <a:rPr dirty="0" sz="1900">
                <a:solidFill>
                  <a:srgbClr val="DFE3E6"/>
                </a:solidFill>
                <a:latin typeface="Tahoma"/>
                <a:cs typeface="Tahoma"/>
              </a:rPr>
              <a:t>Mobile-friendly</a:t>
            </a:r>
            <a:r>
              <a:rPr dirty="0" sz="1900" spc="-245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DFE3E6"/>
                </a:solidFill>
                <a:latin typeface="Tahoma"/>
                <a:cs typeface="Tahoma"/>
              </a:rPr>
              <a:t>portal</a:t>
            </a:r>
            <a:r>
              <a:rPr dirty="0" sz="1900" spc="-140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DFE3E6"/>
                </a:solidFill>
                <a:latin typeface="Tahoma"/>
                <a:cs typeface="Tahoma"/>
              </a:rPr>
              <a:t>for</a:t>
            </a:r>
            <a:r>
              <a:rPr dirty="0" sz="1900" spc="-180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DFE3E6"/>
                </a:solidFill>
                <a:latin typeface="Tahoma"/>
                <a:cs typeface="Tahoma"/>
              </a:rPr>
              <a:t>one-</a:t>
            </a:r>
            <a:r>
              <a:rPr dirty="0" sz="1900" spc="-25">
                <a:solidFill>
                  <a:srgbClr val="DFE3E6"/>
                </a:solidFill>
                <a:latin typeface="Tahoma"/>
                <a:cs typeface="Tahoma"/>
              </a:rPr>
              <a:t>tap</a:t>
            </a:r>
            <a:endParaRPr sz="1900">
              <a:latin typeface="Tahoma"/>
              <a:cs typeface="Tahoma"/>
            </a:endParaRPr>
          </a:p>
          <a:p>
            <a:pPr marL="12700" marR="99695">
              <a:lnSpc>
                <a:spcPts val="3100"/>
              </a:lnSpc>
              <a:spcBef>
                <a:spcPts val="235"/>
              </a:spcBef>
            </a:pPr>
            <a:r>
              <a:rPr dirty="0" sz="1900" spc="-25">
                <a:solidFill>
                  <a:srgbClr val="DFE3E6"/>
                </a:solidFill>
                <a:latin typeface="Tahoma"/>
                <a:cs typeface="Tahoma"/>
              </a:rPr>
              <a:t>meal</a:t>
            </a:r>
            <a:r>
              <a:rPr dirty="0" sz="1900" spc="-90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DFE3E6"/>
                </a:solidFill>
                <a:latin typeface="Tahoma"/>
                <a:cs typeface="Tahoma"/>
              </a:rPr>
              <a:t>pre-registration</a:t>
            </a:r>
            <a:r>
              <a:rPr dirty="0" sz="1900" spc="-145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DFE3E6"/>
                </a:solidFill>
                <a:latin typeface="Tahoma"/>
                <a:cs typeface="Tahoma"/>
              </a:rPr>
              <a:t>today. </a:t>
            </a:r>
            <a:r>
              <a:rPr dirty="0" sz="1900">
                <a:solidFill>
                  <a:srgbClr val="DFE3E6"/>
                </a:solidFill>
                <a:latin typeface="Tahoma"/>
                <a:cs typeface="Tahoma"/>
              </a:rPr>
              <a:t>Students</a:t>
            </a:r>
            <a:r>
              <a:rPr dirty="0" sz="1900" spc="-130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DFE3E6"/>
                </a:solidFill>
                <a:latin typeface="Tahoma"/>
                <a:cs typeface="Tahoma"/>
              </a:rPr>
              <a:t>indicate</a:t>
            </a:r>
            <a:r>
              <a:rPr dirty="0" sz="1900" spc="-165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DFE3E6"/>
                </a:solidFill>
                <a:latin typeface="Tahoma"/>
                <a:cs typeface="Tahoma"/>
              </a:rPr>
              <a:t>which</a:t>
            </a:r>
            <a:r>
              <a:rPr dirty="0" sz="1900" spc="-185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 spc="-20">
                <a:solidFill>
                  <a:srgbClr val="DFE3E6"/>
                </a:solidFill>
                <a:latin typeface="Tahoma"/>
                <a:cs typeface="Tahoma"/>
              </a:rPr>
              <a:t>meals </a:t>
            </a:r>
            <a:r>
              <a:rPr dirty="0" sz="1900" spc="-45">
                <a:solidFill>
                  <a:srgbClr val="DFE3E6"/>
                </a:solidFill>
                <a:latin typeface="Tahoma"/>
                <a:cs typeface="Tahoma"/>
              </a:rPr>
              <a:t>they'll</a:t>
            </a:r>
            <a:r>
              <a:rPr dirty="0" sz="1900" spc="-175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DFE3E6"/>
                </a:solidFill>
                <a:latin typeface="Tahoma"/>
                <a:cs typeface="Tahoma"/>
              </a:rPr>
              <a:t>attend</a:t>
            </a:r>
            <a:r>
              <a:rPr dirty="0" sz="1900" spc="-200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DFE3E6"/>
                </a:solidFill>
                <a:latin typeface="Tahoma"/>
                <a:cs typeface="Tahoma"/>
              </a:rPr>
              <a:t>with</a:t>
            </a:r>
            <a:r>
              <a:rPr dirty="0" sz="1900" spc="-229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 spc="-30">
                <a:solidFill>
                  <a:srgbClr val="DFE3E6"/>
                </a:solidFill>
                <a:latin typeface="Tahoma"/>
                <a:cs typeface="Tahoma"/>
              </a:rPr>
              <a:t>a</a:t>
            </a:r>
            <a:r>
              <a:rPr dirty="0" sz="1900" spc="-170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DFE3E6"/>
                </a:solidFill>
                <a:latin typeface="Tahoma"/>
                <a:cs typeface="Tahoma"/>
              </a:rPr>
              <a:t>single</a:t>
            </a:r>
            <a:r>
              <a:rPr dirty="0" sz="1900" spc="-250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DFE3E6"/>
                </a:solidFill>
                <a:latin typeface="Tahoma"/>
                <a:cs typeface="Tahoma"/>
              </a:rPr>
              <a:t>tap</a:t>
            </a:r>
            <a:r>
              <a:rPr dirty="0" sz="1900" spc="-180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 spc="-25">
                <a:solidFill>
                  <a:srgbClr val="DFE3E6"/>
                </a:solidFill>
                <a:latin typeface="Tahoma"/>
                <a:cs typeface="Tahoma"/>
              </a:rPr>
              <a:t>on</a:t>
            </a:r>
            <a:endParaRPr sz="19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dirty="0" sz="1900">
                <a:solidFill>
                  <a:srgbClr val="DFE3E6"/>
                </a:solidFill>
                <a:latin typeface="Tahoma"/>
                <a:cs typeface="Tahoma"/>
              </a:rPr>
              <a:t>their</a:t>
            </a:r>
            <a:r>
              <a:rPr dirty="0" sz="1900" spc="-175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DFE3E6"/>
                </a:solidFill>
                <a:latin typeface="Tahoma"/>
                <a:cs typeface="Tahoma"/>
              </a:rPr>
              <a:t>phone.</a:t>
            </a:r>
            <a:endParaRPr sz="1900">
              <a:latin typeface="Tahoma"/>
              <a:cs typeface="Tahoma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5234940" y="3177539"/>
            <a:ext cx="4165600" cy="772795"/>
            <a:chOff x="5234940" y="3177539"/>
            <a:chExt cx="4165600" cy="772795"/>
          </a:xfrm>
        </p:grpSpPr>
        <p:sp>
          <p:nvSpPr>
            <p:cNvPr id="12" name="object 12" descr=""/>
            <p:cNvSpPr/>
            <p:nvPr/>
          </p:nvSpPr>
          <p:spPr>
            <a:xfrm>
              <a:off x="5621274" y="3440429"/>
              <a:ext cx="3763010" cy="247015"/>
            </a:xfrm>
            <a:custGeom>
              <a:avLst/>
              <a:gdLst/>
              <a:ahLst/>
              <a:cxnLst/>
              <a:rect l="l" t="t" r="r" b="b"/>
              <a:pathLst>
                <a:path w="3763009" h="247014">
                  <a:moveTo>
                    <a:pt x="3639311" y="0"/>
                  </a:moveTo>
                  <a:lnTo>
                    <a:pt x="123443" y="0"/>
                  </a:lnTo>
                  <a:lnTo>
                    <a:pt x="75384" y="9697"/>
                  </a:lnTo>
                  <a:lnTo>
                    <a:pt x="36147" y="36147"/>
                  </a:lnTo>
                  <a:lnTo>
                    <a:pt x="9697" y="75384"/>
                  </a:lnTo>
                  <a:lnTo>
                    <a:pt x="0" y="123444"/>
                  </a:lnTo>
                  <a:lnTo>
                    <a:pt x="9697" y="171503"/>
                  </a:lnTo>
                  <a:lnTo>
                    <a:pt x="36147" y="210740"/>
                  </a:lnTo>
                  <a:lnTo>
                    <a:pt x="75384" y="237190"/>
                  </a:lnTo>
                  <a:lnTo>
                    <a:pt x="123443" y="246887"/>
                  </a:lnTo>
                  <a:lnTo>
                    <a:pt x="3639311" y="246887"/>
                  </a:lnTo>
                  <a:lnTo>
                    <a:pt x="3687371" y="237190"/>
                  </a:lnTo>
                  <a:lnTo>
                    <a:pt x="3726608" y="210740"/>
                  </a:lnTo>
                  <a:lnTo>
                    <a:pt x="3753058" y="171503"/>
                  </a:lnTo>
                  <a:lnTo>
                    <a:pt x="3762755" y="123444"/>
                  </a:lnTo>
                  <a:lnTo>
                    <a:pt x="3753058" y="75384"/>
                  </a:lnTo>
                  <a:lnTo>
                    <a:pt x="3726608" y="36147"/>
                  </a:lnTo>
                  <a:lnTo>
                    <a:pt x="3687371" y="9697"/>
                  </a:lnTo>
                  <a:lnTo>
                    <a:pt x="3639311" y="0"/>
                  </a:lnTo>
                  <a:close/>
                </a:path>
              </a:pathLst>
            </a:custGeom>
            <a:solidFill>
              <a:srgbClr val="09081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5621274" y="3440429"/>
              <a:ext cx="3763010" cy="247015"/>
            </a:xfrm>
            <a:custGeom>
              <a:avLst/>
              <a:gdLst/>
              <a:ahLst/>
              <a:cxnLst/>
              <a:rect l="l" t="t" r="r" b="b"/>
              <a:pathLst>
                <a:path w="3763009" h="247014">
                  <a:moveTo>
                    <a:pt x="0" y="123444"/>
                  </a:moveTo>
                  <a:lnTo>
                    <a:pt x="9697" y="75384"/>
                  </a:lnTo>
                  <a:lnTo>
                    <a:pt x="36147" y="36147"/>
                  </a:lnTo>
                  <a:lnTo>
                    <a:pt x="75384" y="9697"/>
                  </a:lnTo>
                  <a:lnTo>
                    <a:pt x="123443" y="0"/>
                  </a:lnTo>
                  <a:lnTo>
                    <a:pt x="3639311" y="0"/>
                  </a:lnTo>
                  <a:lnTo>
                    <a:pt x="3687371" y="9697"/>
                  </a:lnTo>
                  <a:lnTo>
                    <a:pt x="3726608" y="36147"/>
                  </a:lnTo>
                  <a:lnTo>
                    <a:pt x="3753058" y="75384"/>
                  </a:lnTo>
                  <a:lnTo>
                    <a:pt x="3762755" y="123444"/>
                  </a:lnTo>
                  <a:lnTo>
                    <a:pt x="3753058" y="171503"/>
                  </a:lnTo>
                  <a:lnTo>
                    <a:pt x="3726608" y="210740"/>
                  </a:lnTo>
                  <a:lnTo>
                    <a:pt x="3687371" y="237190"/>
                  </a:lnTo>
                  <a:lnTo>
                    <a:pt x="3639311" y="246887"/>
                  </a:lnTo>
                  <a:lnTo>
                    <a:pt x="123443" y="246887"/>
                  </a:lnTo>
                  <a:lnTo>
                    <a:pt x="75384" y="237190"/>
                  </a:lnTo>
                  <a:lnTo>
                    <a:pt x="36147" y="210740"/>
                  </a:lnTo>
                  <a:lnTo>
                    <a:pt x="9697" y="171503"/>
                  </a:lnTo>
                  <a:lnTo>
                    <a:pt x="0" y="123444"/>
                  </a:lnTo>
                  <a:close/>
                </a:path>
              </a:pathLst>
            </a:custGeom>
            <a:ln w="32004">
              <a:solidFill>
                <a:srgbClr val="29DDD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5250942" y="3193541"/>
              <a:ext cx="741045" cy="741045"/>
            </a:xfrm>
            <a:custGeom>
              <a:avLst/>
              <a:gdLst/>
              <a:ahLst/>
              <a:cxnLst/>
              <a:rect l="l" t="t" r="r" b="b"/>
              <a:pathLst>
                <a:path w="741045" h="741045">
                  <a:moveTo>
                    <a:pt x="370332" y="0"/>
                  </a:moveTo>
                  <a:lnTo>
                    <a:pt x="323889" y="2886"/>
                  </a:lnTo>
                  <a:lnTo>
                    <a:pt x="279166" y="11313"/>
                  </a:lnTo>
                  <a:lnTo>
                    <a:pt x="236507" y="24934"/>
                  </a:lnTo>
                  <a:lnTo>
                    <a:pt x="196263" y="43401"/>
                  </a:lnTo>
                  <a:lnTo>
                    <a:pt x="158779" y="66367"/>
                  </a:lnTo>
                  <a:lnTo>
                    <a:pt x="124403" y="93483"/>
                  </a:lnTo>
                  <a:lnTo>
                    <a:pt x="93483" y="124403"/>
                  </a:lnTo>
                  <a:lnTo>
                    <a:pt x="66367" y="158779"/>
                  </a:lnTo>
                  <a:lnTo>
                    <a:pt x="43401" y="196263"/>
                  </a:lnTo>
                  <a:lnTo>
                    <a:pt x="24934" y="236507"/>
                  </a:lnTo>
                  <a:lnTo>
                    <a:pt x="11313" y="279166"/>
                  </a:lnTo>
                  <a:lnTo>
                    <a:pt x="2886" y="323889"/>
                  </a:lnTo>
                  <a:lnTo>
                    <a:pt x="0" y="370332"/>
                  </a:lnTo>
                  <a:lnTo>
                    <a:pt x="2886" y="416774"/>
                  </a:lnTo>
                  <a:lnTo>
                    <a:pt x="11313" y="461497"/>
                  </a:lnTo>
                  <a:lnTo>
                    <a:pt x="24934" y="504156"/>
                  </a:lnTo>
                  <a:lnTo>
                    <a:pt x="43401" y="544400"/>
                  </a:lnTo>
                  <a:lnTo>
                    <a:pt x="66367" y="581884"/>
                  </a:lnTo>
                  <a:lnTo>
                    <a:pt x="93483" y="616260"/>
                  </a:lnTo>
                  <a:lnTo>
                    <a:pt x="124403" y="647180"/>
                  </a:lnTo>
                  <a:lnTo>
                    <a:pt x="158779" y="674296"/>
                  </a:lnTo>
                  <a:lnTo>
                    <a:pt x="196263" y="697262"/>
                  </a:lnTo>
                  <a:lnTo>
                    <a:pt x="236507" y="715729"/>
                  </a:lnTo>
                  <a:lnTo>
                    <a:pt x="279166" y="729350"/>
                  </a:lnTo>
                  <a:lnTo>
                    <a:pt x="323889" y="737777"/>
                  </a:lnTo>
                  <a:lnTo>
                    <a:pt x="370332" y="740663"/>
                  </a:lnTo>
                  <a:lnTo>
                    <a:pt x="416774" y="737777"/>
                  </a:lnTo>
                  <a:lnTo>
                    <a:pt x="461497" y="729350"/>
                  </a:lnTo>
                  <a:lnTo>
                    <a:pt x="504156" y="715729"/>
                  </a:lnTo>
                  <a:lnTo>
                    <a:pt x="544400" y="697262"/>
                  </a:lnTo>
                  <a:lnTo>
                    <a:pt x="581884" y="674296"/>
                  </a:lnTo>
                  <a:lnTo>
                    <a:pt x="616260" y="647180"/>
                  </a:lnTo>
                  <a:lnTo>
                    <a:pt x="647180" y="616260"/>
                  </a:lnTo>
                  <a:lnTo>
                    <a:pt x="674296" y="581884"/>
                  </a:lnTo>
                  <a:lnTo>
                    <a:pt x="697262" y="544400"/>
                  </a:lnTo>
                  <a:lnTo>
                    <a:pt x="715729" y="504156"/>
                  </a:lnTo>
                  <a:lnTo>
                    <a:pt x="729350" y="461497"/>
                  </a:lnTo>
                  <a:lnTo>
                    <a:pt x="737777" y="416774"/>
                  </a:lnTo>
                  <a:lnTo>
                    <a:pt x="740663" y="370332"/>
                  </a:lnTo>
                  <a:lnTo>
                    <a:pt x="737777" y="323889"/>
                  </a:lnTo>
                  <a:lnTo>
                    <a:pt x="729350" y="279166"/>
                  </a:lnTo>
                  <a:lnTo>
                    <a:pt x="715729" y="236507"/>
                  </a:lnTo>
                  <a:lnTo>
                    <a:pt x="697262" y="196263"/>
                  </a:lnTo>
                  <a:lnTo>
                    <a:pt x="674296" y="158779"/>
                  </a:lnTo>
                  <a:lnTo>
                    <a:pt x="647180" y="124403"/>
                  </a:lnTo>
                  <a:lnTo>
                    <a:pt x="616260" y="93483"/>
                  </a:lnTo>
                  <a:lnTo>
                    <a:pt x="581884" y="66367"/>
                  </a:lnTo>
                  <a:lnTo>
                    <a:pt x="544400" y="43401"/>
                  </a:lnTo>
                  <a:lnTo>
                    <a:pt x="504156" y="24934"/>
                  </a:lnTo>
                  <a:lnTo>
                    <a:pt x="461497" y="11313"/>
                  </a:lnTo>
                  <a:lnTo>
                    <a:pt x="416774" y="2886"/>
                  </a:lnTo>
                  <a:lnTo>
                    <a:pt x="370332" y="0"/>
                  </a:lnTo>
                  <a:close/>
                </a:path>
              </a:pathLst>
            </a:custGeom>
            <a:solidFill>
              <a:srgbClr val="09081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5250942" y="3193541"/>
              <a:ext cx="741045" cy="741045"/>
            </a:xfrm>
            <a:custGeom>
              <a:avLst/>
              <a:gdLst/>
              <a:ahLst/>
              <a:cxnLst/>
              <a:rect l="l" t="t" r="r" b="b"/>
              <a:pathLst>
                <a:path w="741045" h="741045">
                  <a:moveTo>
                    <a:pt x="0" y="370332"/>
                  </a:moveTo>
                  <a:lnTo>
                    <a:pt x="2886" y="323889"/>
                  </a:lnTo>
                  <a:lnTo>
                    <a:pt x="11313" y="279166"/>
                  </a:lnTo>
                  <a:lnTo>
                    <a:pt x="24934" y="236507"/>
                  </a:lnTo>
                  <a:lnTo>
                    <a:pt x="43401" y="196263"/>
                  </a:lnTo>
                  <a:lnTo>
                    <a:pt x="66367" y="158779"/>
                  </a:lnTo>
                  <a:lnTo>
                    <a:pt x="93483" y="124403"/>
                  </a:lnTo>
                  <a:lnTo>
                    <a:pt x="124403" y="93483"/>
                  </a:lnTo>
                  <a:lnTo>
                    <a:pt x="158779" y="66367"/>
                  </a:lnTo>
                  <a:lnTo>
                    <a:pt x="196263" y="43401"/>
                  </a:lnTo>
                  <a:lnTo>
                    <a:pt x="236507" y="24934"/>
                  </a:lnTo>
                  <a:lnTo>
                    <a:pt x="279166" y="11313"/>
                  </a:lnTo>
                  <a:lnTo>
                    <a:pt x="323889" y="2886"/>
                  </a:lnTo>
                  <a:lnTo>
                    <a:pt x="370332" y="0"/>
                  </a:lnTo>
                  <a:lnTo>
                    <a:pt x="416774" y="2886"/>
                  </a:lnTo>
                  <a:lnTo>
                    <a:pt x="461497" y="11313"/>
                  </a:lnTo>
                  <a:lnTo>
                    <a:pt x="504156" y="24934"/>
                  </a:lnTo>
                  <a:lnTo>
                    <a:pt x="544400" y="43401"/>
                  </a:lnTo>
                  <a:lnTo>
                    <a:pt x="581884" y="66367"/>
                  </a:lnTo>
                  <a:lnTo>
                    <a:pt x="616260" y="93483"/>
                  </a:lnTo>
                  <a:lnTo>
                    <a:pt x="647180" y="124403"/>
                  </a:lnTo>
                  <a:lnTo>
                    <a:pt x="674296" y="158779"/>
                  </a:lnTo>
                  <a:lnTo>
                    <a:pt x="697262" y="196263"/>
                  </a:lnTo>
                  <a:lnTo>
                    <a:pt x="715729" y="236507"/>
                  </a:lnTo>
                  <a:lnTo>
                    <a:pt x="729350" y="279166"/>
                  </a:lnTo>
                  <a:lnTo>
                    <a:pt x="737777" y="323889"/>
                  </a:lnTo>
                  <a:lnTo>
                    <a:pt x="740663" y="370332"/>
                  </a:lnTo>
                  <a:lnTo>
                    <a:pt x="737777" y="416774"/>
                  </a:lnTo>
                  <a:lnTo>
                    <a:pt x="729350" y="461497"/>
                  </a:lnTo>
                  <a:lnTo>
                    <a:pt x="715729" y="504156"/>
                  </a:lnTo>
                  <a:lnTo>
                    <a:pt x="697262" y="544400"/>
                  </a:lnTo>
                  <a:lnTo>
                    <a:pt x="674296" y="581884"/>
                  </a:lnTo>
                  <a:lnTo>
                    <a:pt x="647180" y="616260"/>
                  </a:lnTo>
                  <a:lnTo>
                    <a:pt x="616260" y="647180"/>
                  </a:lnTo>
                  <a:lnTo>
                    <a:pt x="581884" y="674296"/>
                  </a:lnTo>
                  <a:lnTo>
                    <a:pt x="544400" y="697262"/>
                  </a:lnTo>
                  <a:lnTo>
                    <a:pt x="504156" y="715729"/>
                  </a:lnTo>
                  <a:lnTo>
                    <a:pt x="461497" y="729350"/>
                  </a:lnTo>
                  <a:lnTo>
                    <a:pt x="416774" y="737777"/>
                  </a:lnTo>
                  <a:lnTo>
                    <a:pt x="370332" y="740663"/>
                  </a:lnTo>
                  <a:lnTo>
                    <a:pt x="323889" y="737777"/>
                  </a:lnTo>
                  <a:lnTo>
                    <a:pt x="279166" y="729350"/>
                  </a:lnTo>
                  <a:lnTo>
                    <a:pt x="236507" y="715729"/>
                  </a:lnTo>
                  <a:lnTo>
                    <a:pt x="196263" y="697262"/>
                  </a:lnTo>
                  <a:lnTo>
                    <a:pt x="158779" y="674296"/>
                  </a:lnTo>
                  <a:lnTo>
                    <a:pt x="124403" y="647180"/>
                  </a:lnTo>
                  <a:lnTo>
                    <a:pt x="93483" y="616260"/>
                  </a:lnTo>
                  <a:lnTo>
                    <a:pt x="66367" y="581884"/>
                  </a:lnTo>
                  <a:lnTo>
                    <a:pt x="43401" y="544400"/>
                  </a:lnTo>
                  <a:lnTo>
                    <a:pt x="24934" y="504156"/>
                  </a:lnTo>
                  <a:lnTo>
                    <a:pt x="11313" y="461497"/>
                  </a:lnTo>
                  <a:lnTo>
                    <a:pt x="2886" y="416774"/>
                  </a:lnTo>
                  <a:lnTo>
                    <a:pt x="0" y="370332"/>
                  </a:lnTo>
                  <a:close/>
                </a:path>
              </a:pathLst>
            </a:custGeom>
            <a:ln w="32004">
              <a:solidFill>
                <a:srgbClr val="29DDD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31536" y="3374135"/>
              <a:ext cx="370332" cy="370332"/>
            </a:xfrm>
            <a:prstGeom prst="rect">
              <a:avLst/>
            </a:prstGeom>
          </p:spPr>
        </p:pic>
      </p:grpSp>
      <p:sp>
        <p:nvSpPr>
          <p:cNvPr id="17" name="object 17" descr=""/>
          <p:cNvSpPr txBox="1"/>
          <p:nvPr/>
        </p:nvSpPr>
        <p:spPr>
          <a:xfrm>
            <a:off x="5482844" y="4149039"/>
            <a:ext cx="3403600" cy="245491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150" b="1">
                <a:solidFill>
                  <a:srgbClr val="DFE3E6"/>
                </a:solidFill>
                <a:latin typeface="Arial"/>
                <a:cs typeface="Arial"/>
              </a:rPr>
              <a:t>Kitchen</a:t>
            </a:r>
            <a:r>
              <a:rPr dirty="0" sz="2150" spc="-10" b="1">
                <a:solidFill>
                  <a:srgbClr val="DFE3E6"/>
                </a:solidFill>
                <a:latin typeface="Arial"/>
                <a:cs typeface="Arial"/>
              </a:rPr>
              <a:t> </a:t>
            </a:r>
            <a:r>
              <a:rPr dirty="0" sz="2150" spc="-20" b="1">
                <a:solidFill>
                  <a:srgbClr val="DFE3E6"/>
                </a:solidFill>
                <a:latin typeface="Arial"/>
                <a:cs typeface="Arial"/>
              </a:rPr>
              <a:t>Staff</a:t>
            </a:r>
            <a:endParaRPr sz="2150">
              <a:latin typeface="Arial"/>
              <a:cs typeface="Arial"/>
            </a:endParaRPr>
          </a:p>
          <a:p>
            <a:pPr marL="12700" marR="5080">
              <a:lnSpc>
                <a:spcPct val="135900"/>
              </a:lnSpc>
              <a:spcBef>
                <a:spcPts val="1045"/>
              </a:spcBef>
            </a:pPr>
            <a:r>
              <a:rPr dirty="0" sz="1900">
                <a:solidFill>
                  <a:srgbClr val="DFE3E6"/>
                </a:solidFill>
                <a:latin typeface="Tahoma"/>
                <a:cs typeface="Tahoma"/>
              </a:rPr>
              <a:t>Live</a:t>
            </a:r>
            <a:r>
              <a:rPr dirty="0" sz="1900" spc="-170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DFE3E6"/>
                </a:solidFill>
                <a:latin typeface="Tahoma"/>
                <a:cs typeface="Tahoma"/>
              </a:rPr>
              <a:t>dashboard</a:t>
            </a:r>
            <a:r>
              <a:rPr dirty="0" sz="1900" spc="-200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DFE3E6"/>
                </a:solidFill>
                <a:latin typeface="Tahoma"/>
                <a:cs typeface="Tahoma"/>
              </a:rPr>
              <a:t>displays</a:t>
            </a:r>
            <a:r>
              <a:rPr dirty="0" sz="1900" spc="-185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 spc="-20">
                <a:solidFill>
                  <a:srgbClr val="DFE3E6"/>
                </a:solidFill>
                <a:latin typeface="Tahoma"/>
                <a:cs typeface="Tahoma"/>
              </a:rPr>
              <a:t>exact </a:t>
            </a:r>
            <a:r>
              <a:rPr dirty="0" sz="1900">
                <a:solidFill>
                  <a:srgbClr val="DFE3E6"/>
                </a:solidFill>
                <a:latin typeface="Tahoma"/>
                <a:cs typeface="Tahoma"/>
              </a:rPr>
              <a:t>portion</a:t>
            </a:r>
            <a:r>
              <a:rPr dirty="0" sz="1900" spc="-140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DFE3E6"/>
                </a:solidFill>
                <a:latin typeface="Tahoma"/>
                <a:cs typeface="Tahoma"/>
              </a:rPr>
              <a:t>predictions</a:t>
            </a:r>
            <a:r>
              <a:rPr dirty="0" sz="1900" spc="-185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 spc="-30">
                <a:solidFill>
                  <a:srgbClr val="DFE3E6"/>
                </a:solidFill>
                <a:latin typeface="Tahoma"/>
                <a:cs typeface="Tahoma"/>
              </a:rPr>
              <a:t>and</a:t>
            </a:r>
            <a:r>
              <a:rPr dirty="0" sz="1900" spc="-110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DFE3E6"/>
                </a:solidFill>
                <a:latin typeface="Tahoma"/>
                <a:cs typeface="Tahoma"/>
              </a:rPr>
              <a:t>receives </a:t>
            </a:r>
            <a:r>
              <a:rPr dirty="0" sz="1900">
                <a:solidFill>
                  <a:srgbClr val="DFE3E6"/>
                </a:solidFill>
                <a:latin typeface="Tahoma"/>
                <a:cs typeface="Tahoma"/>
              </a:rPr>
              <a:t>real-time</a:t>
            </a:r>
            <a:r>
              <a:rPr dirty="0" sz="1900" spc="-215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DFE3E6"/>
                </a:solidFill>
                <a:latin typeface="Tahoma"/>
                <a:cs typeface="Tahoma"/>
              </a:rPr>
              <a:t>SMS</a:t>
            </a:r>
            <a:r>
              <a:rPr dirty="0" sz="1900" spc="-190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DFE3E6"/>
                </a:solidFill>
                <a:latin typeface="Tahoma"/>
                <a:cs typeface="Tahoma"/>
              </a:rPr>
              <a:t>alerts</a:t>
            </a:r>
            <a:r>
              <a:rPr dirty="0" sz="1900" spc="-145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DFE3E6"/>
                </a:solidFill>
                <a:latin typeface="Tahoma"/>
                <a:cs typeface="Tahoma"/>
              </a:rPr>
              <a:t>via</a:t>
            </a:r>
            <a:r>
              <a:rPr dirty="0" sz="1900" spc="-204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DFE3E6"/>
                </a:solidFill>
                <a:latin typeface="Tahoma"/>
                <a:cs typeface="Tahoma"/>
              </a:rPr>
              <a:t>Twilio integration,</a:t>
            </a:r>
            <a:r>
              <a:rPr dirty="0" sz="1900" spc="-210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DFE3E6"/>
                </a:solidFill>
                <a:latin typeface="Tahoma"/>
                <a:cs typeface="Tahoma"/>
              </a:rPr>
              <a:t>ensuring</a:t>
            </a:r>
            <a:r>
              <a:rPr dirty="0" sz="1900" spc="-260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 spc="-25">
                <a:solidFill>
                  <a:srgbClr val="DFE3E6"/>
                </a:solidFill>
                <a:latin typeface="Tahoma"/>
                <a:cs typeface="Tahoma"/>
              </a:rPr>
              <a:t>they</a:t>
            </a:r>
            <a:r>
              <a:rPr dirty="0" sz="1900" spc="-140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 spc="-20">
                <a:solidFill>
                  <a:srgbClr val="DFE3E6"/>
                </a:solidFill>
                <a:latin typeface="Tahoma"/>
                <a:cs typeface="Tahoma"/>
              </a:rPr>
              <a:t>know </a:t>
            </a:r>
            <a:r>
              <a:rPr dirty="0" sz="1900">
                <a:solidFill>
                  <a:srgbClr val="DFE3E6"/>
                </a:solidFill>
                <a:latin typeface="Tahoma"/>
                <a:cs typeface="Tahoma"/>
              </a:rPr>
              <a:t>precisely</a:t>
            </a:r>
            <a:r>
              <a:rPr dirty="0" sz="1900" spc="-180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 spc="-20">
                <a:solidFill>
                  <a:srgbClr val="DFE3E6"/>
                </a:solidFill>
                <a:latin typeface="Tahoma"/>
                <a:cs typeface="Tahoma"/>
              </a:rPr>
              <a:t>what</a:t>
            </a:r>
            <a:r>
              <a:rPr dirty="0" sz="1900" spc="-180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DFE3E6"/>
                </a:solidFill>
                <a:latin typeface="Tahoma"/>
                <a:cs typeface="Tahoma"/>
              </a:rPr>
              <a:t>to</a:t>
            </a:r>
            <a:r>
              <a:rPr dirty="0" sz="1900" spc="-150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DFE3E6"/>
                </a:solidFill>
                <a:latin typeface="Tahoma"/>
                <a:cs typeface="Tahoma"/>
              </a:rPr>
              <a:t>prepare.</a:t>
            </a:r>
            <a:endParaRPr sz="1900">
              <a:latin typeface="Tahoma"/>
              <a:cs typeface="Tahoma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9614916" y="2807207"/>
            <a:ext cx="4170045" cy="772795"/>
            <a:chOff x="9614916" y="2807207"/>
            <a:chExt cx="4170045" cy="772795"/>
          </a:xfrm>
        </p:grpSpPr>
        <p:sp>
          <p:nvSpPr>
            <p:cNvPr id="19" name="object 19" descr=""/>
            <p:cNvSpPr/>
            <p:nvPr/>
          </p:nvSpPr>
          <p:spPr>
            <a:xfrm>
              <a:off x="10001250" y="3070097"/>
              <a:ext cx="3767454" cy="247015"/>
            </a:xfrm>
            <a:custGeom>
              <a:avLst/>
              <a:gdLst/>
              <a:ahLst/>
              <a:cxnLst/>
              <a:rect l="l" t="t" r="r" b="b"/>
              <a:pathLst>
                <a:path w="3767455" h="247014">
                  <a:moveTo>
                    <a:pt x="3643884" y="0"/>
                  </a:moveTo>
                  <a:lnTo>
                    <a:pt x="123444" y="0"/>
                  </a:lnTo>
                  <a:lnTo>
                    <a:pt x="75384" y="9697"/>
                  </a:lnTo>
                  <a:lnTo>
                    <a:pt x="36147" y="36147"/>
                  </a:lnTo>
                  <a:lnTo>
                    <a:pt x="9697" y="75384"/>
                  </a:lnTo>
                  <a:lnTo>
                    <a:pt x="0" y="123443"/>
                  </a:lnTo>
                  <a:lnTo>
                    <a:pt x="9697" y="171503"/>
                  </a:lnTo>
                  <a:lnTo>
                    <a:pt x="36147" y="210740"/>
                  </a:lnTo>
                  <a:lnTo>
                    <a:pt x="75384" y="237190"/>
                  </a:lnTo>
                  <a:lnTo>
                    <a:pt x="123444" y="246887"/>
                  </a:lnTo>
                  <a:lnTo>
                    <a:pt x="3643884" y="246887"/>
                  </a:lnTo>
                  <a:lnTo>
                    <a:pt x="3691943" y="237190"/>
                  </a:lnTo>
                  <a:lnTo>
                    <a:pt x="3731180" y="210740"/>
                  </a:lnTo>
                  <a:lnTo>
                    <a:pt x="3757630" y="171503"/>
                  </a:lnTo>
                  <a:lnTo>
                    <a:pt x="3767328" y="123443"/>
                  </a:lnTo>
                  <a:lnTo>
                    <a:pt x="3757630" y="75384"/>
                  </a:lnTo>
                  <a:lnTo>
                    <a:pt x="3731180" y="36147"/>
                  </a:lnTo>
                  <a:lnTo>
                    <a:pt x="3691943" y="9697"/>
                  </a:lnTo>
                  <a:lnTo>
                    <a:pt x="3643884" y="0"/>
                  </a:lnTo>
                  <a:close/>
                </a:path>
              </a:pathLst>
            </a:custGeom>
            <a:solidFill>
              <a:srgbClr val="09081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0001250" y="3070097"/>
              <a:ext cx="3767454" cy="247015"/>
            </a:xfrm>
            <a:custGeom>
              <a:avLst/>
              <a:gdLst/>
              <a:ahLst/>
              <a:cxnLst/>
              <a:rect l="l" t="t" r="r" b="b"/>
              <a:pathLst>
                <a:path w="3767455" h="247014">
                  <a:moveTo>
                    <a:pt x="0" y="123443"/>
                  </a:moveTo>
                  <a:lnTo>
                    <a:pt x="9697" y="75384"/>
                  </a:lnTo>
                  <a:lnTo>
                    <a:pt x="36147" y="36147"/>
                  </a:lnTo>
                  <a:lnTo>
                    <a:pt x="75384" y="9697"/>
                  </a:lnTo>
                  <a:lnTo>
                    <a:pt x="123444" y="0"/>
                  </a:lnTo>
                  <a:lnTo>
                    <a:pt x="3643884" y="0"/>
                  </a:lnTo>
                  <a:lnTo>
                    <a:pt x="3691943" y="9697"/>
                  </a:lnTo>
                  <a:lnTo>
                    <a:pt x="3731180" y="36147"/>
                  </a:lnTo>
                  <a:lnTo>
                    <a:pt x="3757630" y="75384"/>
                  </a:lnTo>
                  <a:lnTo>
                    <a:pt x="3767328" y="123443"/>
                  </a:lnTo>
                  <a:lnTo>
                    <a:pt x="3757630" y="171503"/>
                  </a:lnTo>
                  <a:lnTo>
                    <a:pt x="3731180" y="210740"/>
                  </a:lnTo>
                  <a:lnTo>
                    <a:pt x="3691943" y="237190"/>
                  </a:lnTo>
                  <a:lnTo>
                    <a:pt x="3643884" y="246887"/>
                  </a:lnTo>
                  <a:lnTo>
                    <a:pt x="123444" y="246887"/>
                  </a:lnTo>
                  <a:lnTo>
                    <a:pt x="75384" y="237190"/>
                  </a:lnTo>
                  <a:lnTo>
                    <a:pt x="36147" y="210740"/>
                  </a:lnTo>
                  <a:lnTo>
                    <a:pt x="9697" y="171503"/>
                  </a:lnTo>
                  <a:lnTo>
                    <a:pt x="0" y="123443"/>
                  </a:lnTo>
                  <a:close/>
                </a:path>
              </a:pathLst>
            </a:custGeom>
            <a:ln w="32004">
              <a:solidFill>
                <a:srgbClr val="37A7E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9630918" y="2823209"/>
              <a:ext cx="741045" cy="741045"/>
            </a:xfrm>
            <a:custGeom>
              <a:avLst/>
              <a:gdLst/>
              <a:ahLst/>
              <a:cxnLst/>
              <a:rect l="l" t="t" r="r" b="b"/>
              <a:pathLst>
                <a:path w="741045" h="741045">
                  <a:moveTo>
                    <a:pt x="370331" y="0"/>
                  </a:moveTo>
                  <a:lnTo>
                    <a:pt x="323889" y="2886"/>
                  </a:lnTo>
                  <a:lnTo>
                    <a:pt x="279166" y="11313"/>
                  </a:lnTo>
                  <a:lnTo>
                    <a:pt x="236507" y="24934"/>
                  </a:lnTo>
                  <a:lnTo>
                    <a:pt x="196263" y="43401"/>
                  </a:lnTo>
                  <a:lnTo>
                    <a:pt x="158779" y="66367"/>
                  </a:lnTo>
                  <a:lnTo>
                    <a:pt x="124403" y="93483"/>
                  </a:lnTo>
                  <a:lnTo>
                    <a:pt x="93483" y="124403"/>
                  </a:lnTo>
                  <a:lnTo>
                    <a:pt x="66367" y="158779"/>
                  </a:lnTo>
                  <a:lnTo>
                    <a:pt x="43401" y="196263"/>
                  </a:lnTo>
                  <a:lnTo>
                    <a:pt x="24934" y="236507"/>
                  </a:lnTo>
                  <a:lnTo>
                    <a:pt x="11313" y="279166"/>
                  </a:lnTo>
                  <a:lnTo>
                    <a:pt x="2886" y="323889"/>
                  </a:lnTo>
                  <a:lnTo>
                    <a:pt x="0" y="370331"/>
                  </a:lnTo>
                  <a:lnTo>
                    <a:pt x="2886" y="416774"/>
                  </a:lnTo>
                  <a:lnTo>
                    <a:pt x="11313" y="461497"/>
                  </a:lnTo>
                  <a:lnTo>
                    <a:pt x="24934" y="504156"/>
                  </a:lnTo>
                  <a:lnTo>
                    <a:pt x="43401" y="544400"/>
                  </a:lnTo>
                  <a:lnTo>
                    <a:pt x="66367" y="581884"/>
                  </a:lnTo>
                  <a:lnTo>
                    <a:pt x="93483" y="616260"/>
                  </a:lnTo>
                  <a:lnTo>
                    <a:pt x="124403" y="647180"/>
                  </a:lnTo>
                  <a:lnTo>
                    <a:pt x="158779" y="674296"/>
                  </a:lnTo>
                  <a:lnTo>
                    <a:pt x="196263" y="697262"/>
                  </a:lnTo>
                  <a:lnTo>
                    <a:pt x="236507" y="715729"/>
                  </a:lnTo>
                  <a:lnTo>
                    <a:pt x="279166" y="729350"/>
                  </a:lnTo>
                  <a:lnTo>
                    <a:pt x="323889" y="737777"/>
                  </a:lnTo>
                  <a:lnTo>
                    <a:pt x="370331" y="740663"/>
                  </a:lnTo>
                  <a:lnTo>
                    <a:pt x="416774" y="737777"/>
                  </a:lnTo>
                  <a:lnTo>
                    <a:pt x="461497" y="729350"/>
                  </a:lnTo>
                  <a:lnTo>
                    <a:pt x="504156" y="715729"/>
                  </a:lnTo>
                  <a:lnTo>
                    <a:pt x="544400" y="697262"/>
                  </a:lnTo>
                  <a:lnTo>
                    <a:pt x="581884" y="674296"/>
                  </a:lnTo>
                  <a:lnTo>
                    <a:pt x="616260" y="647180"/>
                  </a:lnTo>
                  <a:lnTo>
                    <a:pt x="647180" y="616260"/>
                  </a:lnTo>
                  <a:lnTo>
                    <a:pt x="674296" y="581884"/>
                  </a:lnTo>
                  <a:lnTo>
                    <a:pt x="697262" y="544400"/>
                  </a:lnTo>
                  <a:lnTo>
                    <a:pt x="715729" y="504156"/>
                  </a:lnTo>
                  <a:lnTo>
                    <a:pt x="729350" y="461497"/>
                  </a:lnTo>
                  <a:lnTo>
                    <a:pt x="737777" y="416774"/>
                  </a:lnTo>
                  <a:lnTo>
                    <a:pt x="740663" y="370331"/>
                  </a:lnTo>
                  <a:lnTo>
                    <a:pt x="737777" y="323889"/>
                  </a:lnTo>
                  <a:lnTo>
                    <a:pt x="729350" y="279166"/>
                  </a:lnTo>
                  <a:lnTo>
                    <a:pt x="715729" y="236507"/>
                  </a:lnTo>
                  <a:lnTo>
                    <a:pt x="697262" y="196263"/>
                  </a:lnTo>
                  <a:lnTo>
                    <a:pt x="674296" y="158779"/>
                  </a:lnTo>
                  <a:lnTo>
                    <a:pt x="647180" y="124403"/>
                  </a:lnTo>
                  <a:lnTo>
                    <a:pt x="616260" y="93483"/>
                  </a:lnTo>
                  <a:lnTo>
                    <a:pt x="581884" y="66367"/>
                  </a:lnTo>
                  <a:lnTo>
                    <a:pt x="544400" y="43401"/>
                  </a:lnTo>
                  <a:lnTo>
                    <a:pt x="504156" y="24934"/>
                  </a:lnTo>
                  <a:lnTo>
                    <a:pt x="461497" y="11313"/>
                  </a:lnTo>
                  <a:lnTo>
                    <a:pt x="416774" y="2886"/>
                  </a:lnTo>
                  <a:lnTo>
                    <a:pt x="370331" y="0"/>
                  </a:lnTo>
                  <a:close/>
                </a:path>
              </a:pathLst>
            </a:custGeom>
            <a:solidFill>
              <a:srgbClr val="09081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9630918" y="2823209"/>
              <a:ext cx="741045" cy="741045"/>
            </a:xfrm>
            <a:custGeom>
              <a:avLst/>
              <a:gdLst/>
              <a:ahLst/>
              <a:cxnLst/>
              <a:rect l="l" t="t" r="r" b="b"/>
              <a:pathLst>
                <a:path w="741045" h="741045">
                  <a:moveTo>
                    <a:pt x="0" y="370331"/>
                  </a:moveTo>
                  <a:lnTo>
                    <a:pt x="2886" y="323889"/>
                  </a:lnTo>
                  <a:lnTo>
                    <a:pt x="11313" y="279166"/>
                  </a:lnTo>
                  <a:lnTo>
                    <a:pt x="24934" y="236507"/>
                  </a:lnTo>
                  <a:lnTo>
                    <a:pt x="43401" y="196263"/>
                  </a:lnTo>
                  <a:lnTo>
                    <a:pt x="66367" y="158779"/>
                  </a:lnTo>
                  <a:lnTo>
                    <a:pt x="93483" y="124403"/>
                  </a:lnTo>
                  <a:lnTo>
                    <a:pt x="124403" y="93483"/>
                  </a:lnTo>
                  <a:lnTo>
                    <a:pt x="158779" y="66367"/>
                  </a:lnTo>
                  <a:lnTo>
                    <a:pt x="196263" y="43401"/>
                  </a:lnTo>
                  <a:lnTo>
                    <a:pt x="236507" y="24934"/>
                  </a:lnTo>
                  <a:lnTo>
                    <a:pt x="279166" y="11313"/>
                  </a:lnTo>
                  <a:lnTo>
                    <a:pt x="323889" y="2886"/>
                  </a:lnTo>
                  <a:lnTo>
                    <a:pt x="370331" y="0"/>
                  </a:lnTo>
                  <a:lnTo>
                    <a:pt x="416774" y="2886"/>
                  </a:lnTo>
                  <a:lnTo>
                    <a:pt x="461497" y="11313"/>
                  </a:lnTo>
                  <a:lnTo>
                    <a:pt x="504156" y="24934"/>
                  </a:lnTo>
                  <a:lnTo>
                    <a:pt x="544400" y="43401"/>
                  </a:lnTo>
                  <a:lnTo>
                    <a:pt x="581884" y="66367"/>
                  </a:lnTo>
                  <a:lnTo>
                    <a:pt x="616260" y="93483"/>
                  </a:lnTo>
                  <a:lnTo>
                    <a:pt x="647180" y="124403"/>
                  </a:lnTo>
                  <a:lnTo>
                    <a:pt x="674296" y="158779"/>
                  </a:lnTo>
                  <a:lnTo>
                    <a:pt x="697262" y="196263"/>
                  </a:lnTo>
                  <a:lnTo>
                    <a:pt x="715729" y="236507"/>
                  </a:lnTo>
                  <a:lnTo>
                    <a:pt x="729350" y="279166"/>
                  </a:lnTo>
                  <a:lnTo>
                    <a:pt x="737777" y="323889"/>
                  </a:lnTo>
                  <a:lnTo>
                    <a:pt x="740663" y="370331"/>
                  </a:lnTo>
                  <a:lnTo>
                    <a:pt x="737777" y="416774"/>
                  </a:lnTo>
                  <a:lnTo>
                    <a:pt x="729350" y="461497"/>
                  </a:lnTo>
                  <a:lnTo>
                    <a:pt x="715729" y="504156"/>
                  </a:lnTo>
                  <a:lnTo>
                    <a:pt x="697262" y="544400"/>
                  </a:lnTo>
                  <a:lnTo>
                    <a:pt x="674296" y="581884"/>
                  </a:lnTo>
                  <a:lnTo>
                    <a:pt x="647180" y="616260"/>
                  </a:lnTo>
                  <a:lnTo>
                    <a:pt x="616260" y="647180"/>
                  </a:lnTo>
                  <a:lnTo>
                    <a:pt x="581884" y="674296"/>
                  </a:lnTo>
                  <a:lnTo>
                    <a:pt x="544400" y="697262"/>
                  </a:lnTo>
                  <a:lnTo>
                    <a:pt x="504156" y="715729"/>
                  </a:lnTo>
                  <a:lnTo>
                    <a:pt x="461497" y="729350"/>
                  </a:lnTo>
                  <a:lnTo>
                    <a:pt x="416774" y="737777"/>
                  </a:lnTo>
                  <a:lnTo>
                    <a:pt x="370331" y="740663"/>
                  </a:lnTo>
                  <a:lnTo>
                    <a:pt x="323889" y="737777"/>
                  </a:lnTo>
                  <a:lnTo>
                    <a:pt x="279166" y="729350"/>
                  </a:lnTo>
                  <a:lnTo>
                    <a:pt x="236507" y="715729"/>
                  </a:lnTo>
                  <a:lnTo>
                    <a:pt x="196263" y="697262"/>
                  </a:lnTo>
                  <a:lnTo>
                    <a:pt x="158779" y="674296"/>
                  </a:lnTo>
                  <a:lnTo>
                    <a:pt x="124403" y="647180"/>
                  </a:lnTo>
                  <a:lnTo>
                    <a:pt x="93483" y="616260"/>
                  </a:lnTo>
                  <a:lnTo>
                    <a:pt x="66367" y="581884"/>
                  </a:lnTo>
                  <a:lnTo>
                    <a:pt x="43401" y="544400"/>
                  </a:lnTo>
                  <a:lnTo>
                    <a:pt x="24934" y="504156"/>
                  </a:lnTo>
                  <a:lnTo>
                    <a:pt x="11313" y="461497"/>
                  </a:lnTo>
                  <a:lnTo>
                    <a:pt x="2886" y="416774"/>
                  </a:lnTo>
                  <a:lnTo>
                    <a:pt x="0" y="370331"/>
                  </a:lnTo>
                  <a:close/>
                </a:path>
              </a:pathLst>
            </a:custGeom>
            <a:ln w="32003">
              <a:solidFill>
                <a:srgbClr val="37A7E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16084" y="3003803"/>
              <a:ext cx="370331" cy="370332"/>
            </a:xfrm>
            <a:prstGeom prst="rect">
              <a:avLst/>
            </a:prstGeom>
          </p:spPr>
        </p:pic>
      </p:grpSp>
      <p:sp>
        <p:nvSpPr>
          <p:cNvPr id="24" name="object 24" descr=""/>
          <p:cNvSpPr txBox="1"/>
          <p:nvPr/>
        </p:nvSpPr>
        <p:spPr>
          <a:xfrm>
            <a:off x="9867392" y="3779011"/>
            <a:ext cx="3460115" cy="245427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150" spc="-10" b="1">
                <a:solidFill>
                  <a:srgbClr val="DFE3E6"/>
                </a:solidFill>
                <a:latin typeface="Arial"/>
                <a:cs typeface="Arial"/>
              </a:rPr>
              <a:t>Administrators</a:t>
            </a:r>
            <a:endParaRPr sz="2150">
              <a:latin typeface="Arial"/>
              <a:cs typeface="Arial"/>
            </a:endParaRPr>
          </a:p>
          <a:p>
            <a:pPr marL="12700" marR="5080">
              <a:lnSpc>
                <a:spcPct val="135800"/>
              </a:lnSpc>
              <a:spcBef>
                <a:spcPts val="1045"/>
              </a:spcBef>
            </a:pPr>
            <a:r>
              <a:rPr dirty="0" sz="1900" spc="-10">
                <a:solidFill>
                  <a:srgbClr val="DFE3E6"/>
                </a:solidFill>
                <a:latin typeface="Tahoma"/>
                <a:cs typeface="Tahoma"/>
              </a:rPr>
              <a:t>Comprehensive</a:t>
            </a:r>
            <a:r>
              <a:rPr dirty="0" sz="1900" spc="-204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DFE3E6"/>
                </a:solidFill>
                <a:latin typeface="Tahoma"/>
                <a:cs typeface="Tahoma"/>
              </a:rPr>
              <a:t>analytics dashboard</a:t>
            </a:r>
            <a:r>
              <a:rPr dirty="0" sz="1900" spc="-180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DFE3E6"/>
                </a:solidFill>
                <a:latin typeface="Tahoma"/>
                <a:cs typeface="Tahoma"/>
              </a:rPr>
              <a:t>tracks</a:t>
            </a:r>
            <a:r>
              <a:rPr dirty="0" sz="1900" spc="-155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DFE3E6"/>
                </a:solidFill>
                <a:latin typeface="Tahoma"/>
                <a:cs typeface="Tahoma"/>
              </a:rPr>
              <a:t>waste</a:t>
            </a:r>
            <a:r>
              <a:rPr dirty="0" sz="1900" spc="-145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DFE3E6"/>
                </a:solidFill>
                <a:latin typeface="Tahoma"/>
                <a:cs typeface="Tahoma"/>
              </a:rPr>
              <a:t>trends over</a:t>
            </a:r>
            <a:r>
              <a:rPr dirty="0" sz="1900" spc="-225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 spc="-50">
                <a:solidFill>
                  <a:srgbClr val="DFE3E6"/>
                </a:solidFill>
                <a:latin typeface="Tahoma"/>
                <a:cs typeface="Tahoma"/>
              </a:rPr>
              <a:t>7-</a:t>
            </a:r>
            <a:r>
              <a:rPr dirty="0" sz="1900" spc="-40">
                <a:solidFill>
                  <a:srgbClr val="DFE3E6"/>
                </a:solidFill>
                <a:latin typeface="Tahoma"/>
                <a:cs typeface="Tahoma"/>
              </a:rPr>
              <a:t>day</a:t>
            </a:r>
            <a:r>
              <a:rPr dirty="0" sz="1900" spc="-195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DFE3E6"/>
                </a:solidFill>
                <a:latin typeface="Tahoma"/>
                <a:cs typeface="Tahoma"/>
              </a:rPr>
              <a:t>deltas</a:t>
            </a:r>
            <a:r>
              <a:rPr dirty="0" sz="1900" spc="-195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 spc="-30">
                <a:solidFill>
                  <a:srgbClr val="DFE3E6"/>
                </a:solidFill>
                <a:latin typeface="Tahoma"/>
                <a:cs typeface="Tahoma"/>
              </a:rPr>
              <a:t>and</a:t>
            </a:r>
            <a:r>
              <a:rPr dirty="0" sz="1900" spc="-210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DFE3E6"/>
                </a:solidFill>
                <a:latin typeface="Tahoma"/>
                <a:cs typeface="Tahoma"/>
              </a:rPr>
              <a:t>triggers </a:t>
            </a:r>
            <a:r>
              <a:rPr dirty="0" sz="1900" spc="-20">
                <a:solidFill>
                  <a:srgbClr val="DFE3E6"/>
                </a:solidFill>
                <a:latin typeface="Tahoma"/>
                <a:cs typeface="Tahoma"/>
              </a:rPr>
              <a:t>automated</a:t>
            </a:r>
            <a:r>
              <a:rPr dirty="0" sz="1900" spc="-155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DFE3E6"/>
                </a:solidFill>
                <a:latin typeface="Tahoma"/>
                <a:cs typeface="Tahoma"/>
              </a:rPr>
              <a:t>alerts</a:t>
            </a:r>
            <a:r>
              <a:rPr dirty="0" sz="1900" spc="-95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DFE3E6"/>
                </a:solidFill>
                <a:latin typeface="Tahoma"/>
                <a:cs typeface="Tahoma"/>
              </a:rPr>
              <a:t>to</a:t>
            </a:r>
            <a:r>
              <a:rPr dirty="0" sz="1900" spc="-145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DFE3E6"/>
                </a:solidFill>
                <a:latin typeface="Tahoma"/>
                <a:cs typeface="Tahoma"/>
              </a:rPr>
              <a:t>kitchen</a:t>
            </a:r>
            <a:r>
              <a:rPr dirty="0" sz="1900" spc="-225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DFE3E6"/>
                </a:solidFill>
                <a:latin typeface="Tahoma"/>
                <a:cs typeface="Tahoma"/>
              </a:rPr>
              <a:t>staff </a:t>
            </a:r>
            <a:r>
              <a:rPr dirty="0" sz="1900" spc="-40">
                <a:solidFill>
                  <a:srgbClr val="DFE3E6"/>
                </a:solidFill>
                <a:latin typeface="Tahoma"/>
                <a:cs typeface="Tahoma"/>
              </a:rPr>
              <a:t>when</a:t>
            </a:r>
            <a:r>
              <a:rPr dirty="0" sz="1900" spc="-215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DFE3E6"/>
                </a:solidFill>
                <a:latin typeface="Tahoma"/>
                <a:cs typeface="Tahoma"/>
              </a:rPr>
              <a:t>adjustments</a:t>
            </a:r>
            <a:r>
              <a:rPr dirty="0" sz="1900" spc="-280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DFE3E6"/>
                </a:solidFill>
                <a:latin typeface="Tahoma"/>
                <a:cs typeface="Tahoma"/>
              </a:rPr>
              <a:t>are</a:t>
            </a:r>
            <a:r>
              <a:rPr dirty="0" sz="1900" spc="-195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DFE3E6"/>
                </a:solidFill>
                <a:latin typeface="Tahoma"/>
                <a:cs typeface="Tahoma"/>
              </a:rPr>
              <a:t>needed.</a:t>
            </a:r>
            <a:endParaRPr sz="19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56919" y="370833"/>
            <a:ext cx="6855459" cy="1261110"/>
          </a:xfrm>
          <a:prstGeom prst="rect">
            <a:avLst/>
          </a:prstGeom>
        </p:spPr>
        <p:txBody>
          <a:bodyPr wrap="square" lIns="0" tIns="256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20"/>
              </a:spcBef>
            </a:pPr>
            <a:r>
              <a:rPr dirty="0" sz="3800" spc="-10" b="1">
                <a:solidFill>
                  <a:srgbClr val="EFFBFF"/>
                </a:solidFill>
                <a:latin typeface="Arial"/>
                <a:cs typeface="Arial"/>
              </a:rPr>
              <a:t>The</a:t>
            </a:r>
            <a:r>
              <a:rPr dirty="0" sz="3800" spc="-254" b="1">
                <a:solidFill>
                  <a:srgbClr val="EFFBFF"/>
                </a:solidFill>
                <a:latin typeface="Arial"/>
                <a:cs typeface="Arial"/>
              </a:rPr>
              <a:t> </a:t>
            </a:r>
            <a:r>
              <a:rPr dirty="0" sz="3800" spc="-55" b="1">
                <a:solidFill>
                  <a:srgbClr val="EFFBFF"/>
                </a:solidFill>
                <a:latin typeface="Arial"/>
                <a:cs typeface="Arial"/>
              </a:rPr>
              <a:t>Brains</a:t>
            </a:r>
            <a:r>
              <a:rPr dirty="0" sz="3800" spc="-300" b="1">
                <a:solidFill>
                  <a:srgbClr val="EFFBFF"/>
                </a:solidFill>
                <a:latin typeface="Arial"/>
                <a:cs typeface="Arial"/>
              </a:rPr>
              <a:t> </a:t>
            </a:r>
            <a:r>
              <a:rPr dirty="0" sz="3800" spc="-40" b="1">
                <a:solidFill>
                  <a:srgbClr val="EFFBFF"/>
                </a:solidFill>
                <a:latin typeface="Arial"/>
                <a:cs typeface="Arial"/>
              </a:rPr>
              <a:t>Behind</a:t>
            </a:r>
            <a:r>
              <a:rPr dirty="0" sz="3800" spc="-155" b="1">
                <a:solidFill>
                  <a:srgbClr val="EFFBFF"/>
                </a:solidFill>
                <a:latin typeface="Arial"/>
                <a:cs typeface="Arial"/>
              </a:rPr>
              <a:t> </a:t>
            </a:r>
            <a:r>
              <a:rPr dirty="0" sz="3800" b="1">
                <a:solidFill>
                  <a:srgbClr val="EFFBFF"/>
                </a:solidFill>
                <a:latin typeface="Arial"/>
                <a:cs typeface="Arial"/>
              </a:rPr>
              <a:t>the</a:t>
            </a:r>
            <a:r>
              <a:rPr dirty="0" sz="3800" spc="-25" b="1">
                <a:solidFill>
                  <a:srgbClr val="EFFBFF"/>
                </a:solidFill>
                <a:latin typeface="Arial"/>
                <a:cs typeface="Arial"/>
              </a:rPr>
              <a:t> </a:t>
            </a:r>
            <a:r>
              <a:rPr dirty="0" sz="3800" spc="-10" b="1">
                <a:solidFill>
                  <a:srgbClr val="EFFBFF"/>
                </a:solidFill>
                <a:latin typeface="Arial"/>
                <a:cs typeface="Arial"/>
              </a:rPr>
              <a:t>System</a:t>
            </a:r>
            <a:endParaRPr sz="3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dirty="0" sz="1900" spc="-10" b="1">
                <a:solidFill>
                  <a:srgbClr val="EFFBFF"/>
                </a:solidFill>
                <a:latin typeface="Arial"/>
                <a:cs typeface="Arial"/>
              </a:rPr>
              <a:t>Weighted Prediction</a:t>
            </a:r>
            <a:r>
              <a:rPr dirty="0" sz="1900" spc="-65" b="1">
                <a:solidFill>
                  <a:srgbClr val="EFFBFF"/>
                </a:solidFill>
                <a:latin typeface="Arial"/>
                <a:cs typeface="Arial"/>
              </a:rPr>
              <a:t> </a:t>
            </a:r>
            <a:r>
              <a:rPr dirty="0" sz="1900" spc="-10" b="1">
                <a:solidFill>
                  <a:srgbClr val="EFFBFF"/>
                </a:solidFill>
                <a:latin typeface="Arial"/>
                <a:cs typeface="Arial"/>
              </a:rPr>
              <a:t>Algorithm</a:t>
            </a:r>
            <a:endParaRPr sz="19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56919" y="1889962"/>
            <a:ext cx="6652895" cy="683895"/>
          </a:xfrm>
          <a:prstGeom prst="rect">
            <a:avLst/>
          </a:prstGeom>
        </p:spPr>
        <p:txBody>
          <a:bodyPr wrap="square" lIns="0" tIns="825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dirty="0" sz="1700" spc="-80">
                <a:solidFill>
                  <a:srgbClr val="DFE3E6"/>
                </a:solidFill>
                <a:latin typeface="Tahoma"/>
                <a:cs typeface="Tahoma"/>
              </a:rPr>
              <a:t>Our</a:t>
            </a:r>
            <a:r>
              <a:rPr dirty="0" sz="1700" spc="-75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DFE3E6"/>
                </a:solidFill>
                <a:latin typeface="Tahoma"/>
                <a:cs typeface="Tahoma"/>
              </a:rPr>
              <a:t>forecasting</a:t>
            </a:r>
            <a:r>
              <a:rPr dirty="0" sz="1700" spc="-110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DFE3E6"/>
                </a:solidFill>
                <a:latin typeface="Tahoma"/>
                <a:cs typeface="Tahoma"/>
              </a:rPr>
              <a:t>model</a:t>
            </a:r>
            <a:r>
              <a:rPr dirty="0" sz="1700" spc="-175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DFE3E6"/>
                </a:solidFill>
                <a:latin typeface="Tahoma"/>
                <a:cs typeface="Tahoma"/>
              </a:rPr>
              <a:t>combines</a:t>
            </a:r>
            <a:r>
              <a:rPr dirty="0" sz="1700" spc="-90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DFE3E6"/>
                </a:solidFill>
                <a:latin typeface="Tahoma"/>
                <a:cs typeface="Tahoma"/>
              </a:rPr>
              <a:t>multiple</a:t>
            </a:r>
            <a:r>
              <a:rPr dirty="0" sz="1700" spc="-105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DFE3E6"/>
                </a:solidFill>
                <a:latin typeface="Tahoma"/>
                <a:cs typeface="Tahoma"/>
              </a:rPr>
              <a:t>data</a:t>
            </a:r>
            <a:r>
              <a:rPr dirty="0" sz="1700" spc="-145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DFE3E6"/>
                </a:solidFill>
                <a:latin typeface="Tahoma"/>
                <a:cs typeface="Tahoma"/>
              </a:rPr>
              <a:t>sources</a:t>
            </a:r>
            <a:r>
              <a:rPr dirty="0" sz="1700" spc="-125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DFE3E6"/>
                </a:solidFill>
                <a:latin typeface="Tahoma"/>
                <a:cs typeface="Tahoma"/>
              </a:rPr>
              <a:t>using</a:t>
            </a:r>
            <a:r>
              <a:rPr dirty="0" sz="1700" spc="-65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DFE3E6"/>
                </a:solidFill>
                <a:latin typeface="Tahoma"/>
                <a:cs typeface="Tahoma"/>
              </a:rPr>
              <a:t>intelligent</a:t>
            </a: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dirty="0" sz="1700" spc="-10">
                <a:solidFill>
                  <a:srgbClr val="DFE3E6"/>
                </a:solidFill>
                <a:latin typeface="Tahoma"/>
                <a:cs typeface="Tahoma"/>
              </a:rPr>
              <a:t>weighting: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72108" y="2745765"/>
            <a:ext cx="3274695" cy="22294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42545">
              <a:lnSpc>
                <a:spcPct val="100000"/>
              </a:lnSpc>
              <a:spcBef>
                <a:spcPts val="90"/>
              </a:spcBef>
            </a:pPr>
            <a:r>
              <a:rPr dirty="0" sz="5700" spc="-25" b="1">
                <a:solidFill>
                  <a:srgbClr val="DFE3E6"/>
                </a:solidFill>
                <a:latin typeface="Arial"/>
                <a:cs typeface="Arial"/>
              </a:rPr>
              <a:t>50%</a:t>
            </a:r>
            <a:endParaRPr sz="57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215"/>
              </a:spcBef>
            </a:pPr>
            <a:r>
              <a:rPr dirty="0" sz="1900" spc="-30" b="1">
                <a:solidFill>
                  <a:srgbClr val="DFE3E6"/>
                </a:solidFill>
                <a:latin typeface="Arial"/>
                <a:cs typeface="Arial"/>
              </a:rPr>
              <a:t>Live</a:t>
            </a:r>
            <a:r>
              <a:rPr dirty="0" sz="1900" spc="-55" b="1">
                <a:solidFill>
                  <a:srgbClr val="DFE3E6"/>
                </a:solidFill>
                <a:latin typeface="Arial"/>
                <a:cs typeface="Arial"/>
              </a:rPr>
              <a:t> </a:t>
            </a:r>
            <a:r>
              <a:rPr dirty="0" sz="1900" spc="-10" b="1">
                <a:solidFill>
                  <a:srgbClr val="DFE3E6"/>
                </a:solidFill>
                <a:latin typeface="Arial"/>
                <a:cs typeface="Arial"/>
              </a:rPr>
              <a:t>Registrations</a:t>
            </a:r>
            <a:endParaRPr sz="19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395"/>
              </a:spcBef>
            </a:pPr>
            <a:r>
              <a:rPr dirty="0" sz="1700" spc="-40">
                <a:solidFill>
                  <a:srgbClr val="DFE3E6"/>
                </a:solidFill>
                <a:latin typeface="Tahoma"/>
                <a:cs typeface="Tahoma"/>
              </a:rPr>
              <a:t>Today's</a:t>
            </a:r>
            <a:r>
              <a:rPr dirty="0" sz="1700" spc="-145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DFE3E6"/>
                </a:solidFill>
                <a:latin typeface="Tahoma"/>
                <a:cs typeface="Tahoma"/>
              </a:rPr>
              <a:t>real-time</a:t>
            </a:r>
            <a:r>
              <a:rPr dirty="0" sz="1700" spc="-65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DFE3E6"/>
                </a:solidFill>
                <a:latin typeface="Tahoma"/>
                <a:cs typeface="Tahoma"/>
              </a:rPr>
              <a:t>pre-</a:t>
            </a:r>
            <a:r>
              <a:rPr dirty="0" sz="1700" spc="-10">
                <a:solidFill>
                  <a:srgbClr val="DFE3E6"/>
                </a:solidFill>
                <a:latin typeface="Tahoma"/>
                <a:cs typeface="Tahoma"/>
              </a:rPr>
              <a:t>registrations</a:t>
            </a:r>
            <a:endParaRPr sz="1700">
              <a:latin typeface="Tahoma"/>
              <a:cs typeface="Tahoma"/>
            </a:endParaRPr>
          </a:p>
          <a:p>
            <a:pPr algn="ctr" marL="1905">
              <a:lnSpc>
                <a:spcPct val="100000"/>
              </a:lnSpc>
              <a:spcBef>
                <a:spcPts val="555"/>
              </a:spcBef>
            </a:pPr>
            <a:r>
              <a:rPr dirty="0" sz="1700">
                <a:solidFill>
                  <a:srgbClr val="DFE3E6"/>
                </a:solidFill>
                <a:latin typeface="Tahoma"/>
                <a:cs typeface="Tahoma"/>
              </a:rPr>
              <a:t>capture</a:t>
            </a:r>
            <a:r>
              <a:rPr dirty="0" sz="1700" spc="-130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DFE3E6"/>
                </a:solidFill>
                <a:latin typeface="Tahoma"/>
                <a:cs typeface="Tahoma"/>
              </a:rPr>
              <a:t>immediate</a:t>
            </a:r>
            <a:r>
              <a:rPr dirty="0" sz="1700" spc="-160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DFE3E6"/>
                </a:solidFill>
                <a:latin typeface="Tahoma"/>
                <a:cs typeface="Tahoma"/>
              </a:rPr>
              <a:t>intent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852542" y="2745765"/>
            <a:ext cx="3362960" cy="22294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45720">
              <a:lnSpc>
                <a:spcPct val="100000"/>
              </a:lnSpc>
              <a:spcBef>
                <a:spcPts val="90"/>
              </a:spcBef>
            </a:pPr>
            <a:r>
              <a:rPr dirty="0" sz="5700" spc="-25" b="1">
                <a:solidFill>
                  <a:srgbClr val="DFE3E6"/>
                </a:solidFill>
                <a:latin typeface="Arial"/>
                <a:cs typeface="Arial"/>
              </a:rPr>
              <a:t>30%</a:t>
            </a:r>
            <a:endParaRPr sz="5700">
              <a:latin typeface="Arial"/>
              <a:cs typeface="Arial"/>
            </a:endParaRPr>
          </a:p>
          <a:p>
            <a:pPr algn="ctr" marL="6350">
              <a:lnSpc>
                <a:spcPct val="100000"/>
              </a:lnSpc>
              <a:spcBef>
                <a:spcPts val="2215"/>
              </a:spcBef>
            </a:pPr>
            <a:r>
              <a:rPr dirty="0" sz="1900" b="1">
                <a:solidFill>
                  <a:srgbClr val="DFE3E6"/>
                </a:solidFill>
                <a:latin typeface="Arial"/>
                <a:cs typeface="Arial"/>
              </a:rPr>
              <a:t>Recent</a:t>
            </a:r>
            <a:r>
              <a:rPr dirty="0" sz="1900" spc="-75" b="1">
                <a:solidFill>
                  <a:srgbClr val="DFE3E6"/>
                </a:solidFill>
                <a:latin typeface="Arial"/>
                <a:cs typeface="Arial"/>
              </a:rPr>
              <a:t> </a:t>
            </a:r>
            <a:r>
              <a:rPr dirty="0" sz="1900" spc="-10" b="1">
                <a:solidFill>
                  <a:srgbClr val="DFE3E6"/>
                </a:solidFill>
                <a:latin typeface="Arial"/>
                <a:cs typeface="Arial"/>
              </a:rPr>
              <a:t>Trends</a:t>
            </a:r>
            <a:endParaRPr sz="19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395"/>
              </a:spcBef>
            </a:pPr>
            <a:r>
              <a:rPr dirty="0" sz="1700" spc="-25">
                <a:solidFill>
                  <a:srgbClr val="DFE3E6"/>
                </a:solidFill>
                <a:latin typeface="Tahoma"/>
                <a:cs typeface="Tahoma"/>
              </a:rPr>
              <a:t>Average</a:t>
            </a:r>
            <a:r>
              <a:rPr dirty="0" sz="1700" spc="-135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DFE3E6"/>
                </a:solidFill>
                <a:latin typeface="Tahoma"/>
                <a:cs typeface="Tahoma"/>
              </a:rPr>
              <a:t>attendance</a:t>
            </a:r>
            <a:r>
              <a:rPr dirty="0" sz="1700" spc="-90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DFE3E6"/>
                </a:solidFill>
                <a:latin typeface="Tahoma"/>
                <a:cs typeface="Tahoma"/>
              </a:rPr>
              <a:t>over</a:t>
            </a:r>
            <a:r>
              <a:rPr dirty="0" sz="1700" spc="-140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DFE3E6"/>
                </a:solidFill>
                <a:latin typeface="Tahoma"/>
                <a:cs typeface="Tahoma"/>
              </a:rPr>
              <a:t>last</a:t>
            </a:r>
            <a:r>
              <a:rPr dirty="0" sz="1700" spc="-135">
                <a:solidFill>
                  <a:srgbClr val="DFE3E6"/>
                </a:solidFill>
                <a:latin typeface="Tahoma"/>
                <a:cs typeface="Tahoma"/>
              </a:rPr>
              <a:t> 7</a:t>
            </a:r>
            <a:r>
              <a:rPr dirty="0" sz="1700" spc="-180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700" spc="-20">
                <a:solidFill>
                  <a:srgbClr val="DFE3E6"/>
                </a:solidFill>
                <a:latin typeface="Tahoma"/>
                <a:cs typeface="Tahoma"/>
              </a:rPr>
              <a:t>days</a:t>
            </a:r>
            <a:endParaRPr sz="1700">
              <a:latin typeface="Tahoma"/>
              <a:cs typeface="Tahoma"/>
            </a:endParaRPr>
          </a:p>
          <a:p>
            <a:pPr algn="ctr" marL="2540">
              <a:lnSpc>
                <a:spcPct val="100000"/>
              </a:lnSpc>
              <a:spcBef>
                <a:spcPts val="555"/>
              </a:spcBef>
            </a:pPr>
            <a:r>
              <a:rPr dirty="0" sz="1700">
                <a:solidFill>
                  <a:srgbClr val="DFE3E6"/>
                </a:solidFill>
                <a:latin typeface="Tahoma"/>
                <a:cs typeface="Tahoma"/>
              </a:rPr>
              <a:t>identifies</a:t>
            </a:r>
            <a:r>
              <a:rPr dirty="0" sz="1700" spc="20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DFE3E6"/>
                </a:solidFill>
                <a:latin typeface="Tahoma"/>
                <a:cs typeface="Tahoma"/>
              </a:rPr>
              <a:t>patterns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738373" y="5319217"/>
            <a:ext cx="3661410" cy="22288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48895">
              <a:lnSpc>
                <a:spcPct val="100000"/>
              </a:lnSpc>
              <a:spcBef>
                <a:spcPts val="90"/>
              </a:spcBef>
            </a:pPr>
            <a:r>
              <a:rPr dirty="0" sz="5700" spc="-25" b="1">
                <a:solidFill>
                  <a:srgbClr val="DFE3E6"/>
                </a:solidFill>
                <a:latin typeface="Arial"/>
                <a:cs typeface="Arial"/>
              </a:rPr>
              <a:t>20%</a:t>
            </a:r>
            <a:endParaRPr sz="5700">
              <a:latin typeface="Arial"/>
              <a:cs typeface="Arial"/>
            </a:endParaRPr>
          </a:p>
          <a:p>
            <a:pPr algn="ctr" marL="6350">
              <a:lnSpc>
                <a:spcPct val="100000"/>
              </a:lnSpc>
              <a:spcBef>
                <a:spcPts val="2210"/>
              </a:spcBef>
            </a:pPr>
            <a:r>
              <a:rPr dirty="0" sz="1900" spc="-10" b="1">
                <a:solidFill>
                  <a:srgbClr val="DFE3E6"/>
                </a:solidFill>
                <a:latin typeface="Arial"/>
                <a:cs typeface="Arial"/>
              </a:rPr>
              <a:t>Historical</a:t>
            </a:r>
            <a:r>
              <a:rPr dirty="0" sz="1900" spc="-15" b="1">
                <a:solidFill>
                  <a:srgbClr val="DFE3E6"/>
                </a:solidFill>
                <a:latin typeface="Arial"/>
                <a:cs typeface="Arial"/>
              </a:rPr>
              <a:t> </a:t>
            </a:r>
            <a:r>
              <a:rPr dirty="0" sz="1900" spc="-10" b="1">
                <a:solidFill>
                  <a:srgbClr val="DFE3E6"/>
                </a:solidFill>
                <a:latin typeface="Arial"/>
                <a:cs typeface="Arial"/>
              </a:rPr>
              <a:t>Patterns</a:t>
            </a:r>
            <a:endParaRPr sz="19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395"/>
              </a:spcBef>
            </a:pPr>
            <a:r>
              <a:rPr dirty="0" sz="1700" spc="-20">
                <a:solidFill>
                  <a:srgbClr val="DFE3E6"/>
                </a:solidFill>
                <a:latin typeface="Tahoma"/>
                <a:cs typeface="Tahoma"/>
              </a:rPr>
              <a:t>Same</a:t>
            </a:r>
            <a:r>
              <a:rPr dirty="0" sz="1700" spc="-125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700" spc="-30">
                <a:solidFill>
                  <a:srgbClr val="DFE3E6"/>
                </a:solidFill>
                <a:latin typeface="Tahoma"/>
                <a:cs typeface="Tahoma"/>
              </a:rPr>
              <a:t>weekday</a:t>
            </a:r>
            <a:r>
              <a:rPr dirty="0" sz="1700" spc="-190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DFE3E6"/>
                </a:solidFill>
                <a:latin typeface="Tahoma"/>
                <a:cs typeface="Tahoma"/>
              </a:rPr>
              <a:t>last</a:t>
            </a:r>
            <a:r>
              <a:rPr dirty="0" sz="1700" spc="-170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700" spc="-20">
                <a:solidFill>
                  <a:srgbClr val="DFE3E6"/>
                </a:solidFill>
                <a:latin typeface="Tahoma"/>
                <a:cs typeface="Tahoma"/>
              </a:rPr>
              <a:t>week</a:t>
            </a:r>
            <a:r>
              <a:rPr dirty="0" sz="1700" spc="-150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DFE3E6"/>
                </a:solidFill>
                <a:latin typeface="Tahoma"/>
                <a:cs typeface="Tahoma"/>
              </a:rPr>
              <a:t>data</a:t>
            </a:r>
            <a:r>
              <a:rPr dirty="0" sz="1700" spc="-130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DFE3E6"/>
                </a:solidFill>
                <a:latin typeface="Tahoma"/>
                <a:cs typeface="Tahoma"/>
              </a:rPr>
              <a:t>captures</a:t>
            </a:r>
            <a:endParaRPr sz="1700">
              <a:latin typeface="Tahoma"/>
              <a:cs typeface="Tahoma"/>
            </a:endParaRPr>
          </a:p>
          <a:p>
            <a:pPr algn="ctr" marL="5080">
              <a:lnSpc>
                <a:spcPct val="100000"/>
              </a:lnSpc>
              <a:spcBef>
                <a:spcPts val="555"/>
              </a:spcBef>
            </a:pPr>
            <a:r>
              <a:rPr dirty="0" sz="1700" spc="-10">
                <a:solidFill>
                  <a:srgbClr val="DFE3E6"/>
                </a:solidFill>
                <a:latin typeface="Tahoma"/>
                <a:cs typeface="Tahoma"/>
              </a:rPr>
              <a:t>recurring</a:t>
            </a:r>
            <a:r>
              <a:rPr dirty="0" sz="1700" spc="-85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DFE3E6"/>
                </a:solidFill>
                <a:latin typeface="Tahoma"/>
                <a:cs typeface="Tahoma"/>
              </a:rPr>
              <a:t>cycles</a:t>
            </a:r>
            <a:endParaRPr sz="17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486400" cy="82295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326251" y="712165"/>
            <a:ext cx="4544060" cy="6737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250" spc="135" b="0">
                <a:latin typeface="Malgun Gothic Semilight"/>
                <a:cs typeface="Malgun Gothic Semilight"/>
              </a:rPr>
              <a:t>Technology</a:t>
            </a:r>
            <a:r>
              <a:rPr dirty="0" sz="4250" spc="385" b="0">
                <a:latin typeface="Malgun Gothic Semilight"/>
                <a:cs typeface="Malgun Gothic Semilight"/>
              </a:rPr>
              <a:t> </a:t>
            </a:r>
            <a:r>
              <a:rPr dirty="0" sz="4250" spc="-30" b="0">
                <a:latin typeface="Malgun Gothic Semilight"/>
                <a:cs typeface="Malgun Gothic Semilight"/>
              </a:rPr>
              <a:t>S</a:t>
            </a:r>
            <a:r>
              <a:rPr dirty="0" sz="4250" spc="-575" b="0">
                <a:latin typeface="Malgun Gothic Semilight"/>
                <a:cs typeface="Malgun Gothic Semilight"/>
              </a:rPr>
              <a:t> </a:t>
            </a:r>
            <a:r>
              <a:rPr dirty="0" sz="4250" spc="95" b="0">
                <a:latin typeface="Malgun Gothic Semilight"/>
                <a:cs typeface="Malgun Gothic Semilight"/>
              </a:rPr>
              <a:t>tack</a:t>
            </a:r>
            <a:endParaRPr sz="4250">
              <a:latin typeface="Malgun Gothic Semilight"/>
              <a:cs typeface="Malgun Gothic Semilight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36791" y="1796795"/>
            <a:ext cx="608076" cy="60350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36791" y="3140964"/>
            <a:ext cx="608076" cy="60807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36791" y="4869179"/>
            <a:ext cx="608076" cy="60807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36791" y="6601968"/>
            <a:ext cx="608076" cy="608076"/>
          </a:xfrm>
          <a:prstGeom prst="rect">
            <a:avLst/>
          </a:prstGeom>
        </p:spPr>
      </p:pic>
      <p:sp>
        <p:nvSpPr>
          <p:cNvPr id="8" name="object 8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50"/>
              <a:t>Backend</a:t>
            </a:r>
          </a:p>
          <a:p>
            <a:pPr marL="12700">
              <a:lnSpc>
                <a:spcPct val="100000"/>
              </a:lnSpc>
              <a:spcBef>
                <a:spcPts val="1735"/>
              </a:spcBef>
            </a:pPr>
            <a:r>
              <a:rPr dirty="0" sz="1900">
                <a:latin typeface="Tahoma"/>
                <a:cs typeface="Tahoma"/>
              </a:rPr>
              <a:t>Built</a:t>
            </a:r>
            <a:r>
              <a:rPr dirty="0" sz="1900" spc="-160">
                <a:latin typeface="Tahoma"/>
                <a:cs typeface="Tahoma"/>
              </a:rPr>
              <a:t> </a:t>
            </a:r>
            <a:r>
              <a:rPr dirty="0" sz="1900" spc="-10">
                <a:latin typeface="Tahoma"/>
                <a:cs typeface="Tahoma"/>
              </a:rPr>
              <a:t>with</a:t>
            </a:r>
            <a:r>
              <a:rPr dirty="0" sz="1900" spc="-125">
                <a:latin typeface="Tahoma"/>
                <a:cs typeface="Tahoma"/>
              </a:rPr>
              <a:t> </a:t>
            </a:r>
            <a:r>
              <a:rPr dirty="0" sz="1900" spc="-10">
                <a:latin typeface="Tahoma"/>
                <a:cs typeface="Tahoma"/>
              </a:rPr>
              <a:t>Node.js</a:t>
            </a:r>
            <a:r>
              <a:rPr dirty="0" sz="1900" spc="-165">
                <a:latin typeface="Tahoma"/>
                <a:cs typeface="Tahoma"/>
              </a:rPr>
              <a:t> </a:t>
            </a:r>
            <a:r>
              <a:rPr dirty="0" sz="1900" spc="-30">
                <a:latin typeface="Tahoma"/>
                <a:cs typeface="Tahoma"/>
              </a:rPr>
              <a:t>and</a:t>
            </a:r>
            <a:r>
              <a:rPr dirty="0" sz="1900" spc="-145">
                <a:latin typeface="Tahoma"/>
                <a:cs typeface="Tahoma"/>
              </a:rPr>
              <a:t> </a:t>
            </a:r>
            <a:r>
              <a:rPr dirty="0" sz="1900">
                <a:latin typeface="Tahoma"/>
                <a:cs typeface="Tahoma"/>
              </a:rPr>
              <a:t>Express</a:t>
            </a:r>
            <a:r>
              <a:rPr dirty="0" sz="1900" spc="-170">
                <a:latin typeface="Tahoma"/>
                <a:cs typeface="Tahoma"/>
              </a:rPr>
              <a:t> </a:t>
            </a:r>
            <a:r>
              <a:rPr dirty="0" sz="1900">
                <a:latin typeface="Tahoma"/>
                <a:cs typeface="Tahoma"/>
              </a:rPr>
              <a:t>for</a:t>
            </a:r>
            <a:r>
              <a:rPr dirty="0" sz="1900" spc="-155">
                <a:latin typeface="Tahoma"/>
                <a:cs typeface="Tahoma"/>
              </a:rPr>
              <a:t> </a:t>
            </a:r>
            <a:r>
              <a:rPr dirty="0" sz="1900">
                <a:latin typeface="Tahoma"/>
                <a:cs typeface="Tahoma"/>
              </a:rPr>
              <a:t>robust</a:t>
            </a:r>
            <a:r>
              <a:rPr dirty="0" sz="1900" spc="-155">
                <a:latin typeface="Tahoma"/>
                <a:cs typeface="Tahoma"/>
              </a:rPr>
              <a:t> </a:t>
            </a:r>
            <a:r>
              <a:rPr dirty="0" sz="1900">
                <a:latin typeface="Tahoma"/>
                <a:cs typeface="Tahoma"/>
              </a:rPr>
              <a:t>server-side</a:t>
            </a:r>
            <a:r>
              <a:rPr dirty="0" sz="1900" spc="-200">
                <a:latin typeface="Tahoma"/>
                <a:cs typeface="Tahoma"/>
              </a:rPr>
              <a:t> </a:t>
            </a:r>
            <a:r>
              <a:rPr dirty="0" sz="1900" spc="-10">
                <a:latin typeface="Tahoma"/>
                <a:cs typeface="Tahoma"/>
              </a:rPr>
              <a:t>handling</a:t>
            </a:r>
            <a:endParaRPr sz="1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830"/>
              </a:spcBef>
            </a:pPr>
            <a:endParaRPr sz="19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pc="70"/>
              <a:t>Frontend</a:t>
            </a:r>
          </a:p>
          <a:p>
            <a:pPr marL="12700">
              <a:lnSpc>
                <a:spcPct val="100000"/>
              </a:lnSpc>
              <a:spcBef>
                <a:spcPts val="1735"/>
              </a:spcBef>
            </a:pPr>
            <a:r>
              <a:rPr dirty="0" sz="1900" spc="-30">
                <a:latin typeface="Tahoma"/>
                <a:cs typeface="Tahoma"/>
              </a:rPr>
              <a:t>HTML,</a:t>
            </a:r>
            <a:r>
              <a:rPr dirty="0" sz="1900" spc="-220">
                <a:latin typeface="Tahoma"/>
                <a:cs typeface="Tahoma"/>
              </a:rPr>
              <a:t> </a:t>
            </a:r>
            <a:r>
              <a:rPr dirty="0" sz="1900">
                <a:latin typeface="Tahoma"/>
                <a:cs typeface="Tahoma"/>
              </a:rPr>
              <a:t>CSS,</a:t>
            </a:r>
            <a:r>
              <a:rPr dirty="0" sz="1900" spc="-170">
                <a:latin typeface="Tahoma"/>
                <a:cs typeface="Tahoma"/>
              </a:rPr>
              <a:t> </a:t>
            </a:r>
            <a:r>
              <a:rPr dirty="0" sz="1900" spc="-30">
                <a:latin typeface="Tahoma"/>
                <a:cs typeface="Tahoma"/>
              </a:rPr>
              <a:t>and</a:t>
            </a:r>
            <a:r>
              <a:rPr dirty="0" sz="1900" spc="-175">
                <a:latin typeface="Tahoma"/>
                <a:cs typeface="Tahoma"/>
              </a:rPr>
              <a:t> </a:t>
            </a:r>
            <a:r>
              <a:rPr dirty="0" sz="1900" spc="45">
                <a:latin typeface="Tahoma"/>
                <a:cs typeface="Tahoma"/>
              </a:rPr>
              <a:t>JavaScript</a:t>
            </a:r>
            <a:r>
              <a:rPr dirty="0" sz="1900" spc="-229">
                <a:latin typeface="Tahoma"/>
                <a:cs typeface="Tahoma"/>
              </a:rPr>
              <a:t> </a:t>
            </a:r>
            <a:r>
              <a:rPr dirty="0" sz="1900">
                <a:latin typeface="Tahoma"/>
                <a:cs typeface="Tahoma"/>
              </a:rPr>
              <a:t>create</a:t>
            </a:r>
            <a:r>
              <a:rPr dirty="0" sz="1900" spc="-145">
                <a:latin typeface="Tahoma"/>
                <a:cs typeface="Tahoma"/>
              </a:rPr>
              <a:t> </a:t>
            </a:r>
            <a:r>
              <a:rPr dirty="0" sz="1900">
                <a:latin typeface="Tahoma"/>
                <a:cs typeface="Tahoma"/>
              </a:rPr>
              <a:t>responsive,</a:t>
            </a:r>
            <a:r>
              <a:rPr dirty="0" sz="1900" spc="-260">
                <a:latin typeface="Tahoma"/>
                <a:cs typeface="Tahoma"/>
              </a:rPr>
              <a:t> </a:t>
            </a:r>
            <a:r>
              <a:rPr dirty="0" sz="1900">
                <a:latin typeface="Tahoma"/>
                <a:cs typeface="Tahoma"/>
              </a:rPr>
              <a:t>user-</a:t>
            </a:r>
            <a:r>
              <a:rPr dirty="0" sz="1900" spc="-10">
                <a:latin typeface="Tahoma"/>
                <a:cs typeface="Tahoma"/>
              </a:rPr>
              <a:t>friendly</a:t>
            </a:r>
            <a:endParaRPr sz="19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dirty="0" sz="1900" spc="-10">
                <a:latin typeface="Tahoma"/>
                <a:cs typeface="Tahoma"/>
              </a:rPr>
              <a:t>interfaces</a:t>
            </a:r>
            <a:endParaRPr sz="1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885"/>
              </a:spcBef>
            </a:pPr>
            <a:endParaRPr sz="19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pc="85"/>
              <a:t>Visualization</a:t>
            </a:r>
          </a:p>
          <a:p>
            <a:pPr marL="12700">
              <a:lnSpc>
                <a:spcPct val="100000"/>
              </a:lnSpc>
              <a:spcBef>
                <a:spcPts val="1730"/>
              </a:spcBef>
            </a:pPr>
            <a:r>
              <a:rPr dirty="0" sz="1900" spc="-20">
                <a:latin typeface="Tahoma"/>
                <a:cs typeface="Tahoma"/>
              </a:rPr>
              <a:t>Chart.js</a:t>
            </a:r>
            <a:r>
              <a:rPr dirty="0" sz="1900" spc="-185">
                <a:latin typeface="Tahoma"/>
                <a:cs typeface="Tahoma"/>
              </a:rPr>
              <a:t> </a:t>
            </a:r>
            <a:r>
              <a:rPr dirty="0" sz="1900" spc="-10">
                <a:latin typeface="Tahoma"/>
                <a:cs typeface="Tahoma"/>
              </a:rPr>
              <a:t>enables</a:t>
            </a:r>
            <a:r>
              <a:rPr dirty="0" sz="1900" spc="-185">
                <a:latin typeface="Tahoma"/>
                <a:cs typeface="Tahoma"/>
              </a:rPr>
              <a:t> </a:t>
            </a:r>
            <a:r>
              <a:rPr dirty="0" sz="1900">
                <a:latin typeface="Tahoma"/>
                <a:cs typeface="Tahoma"/>
              </a:rPr>
              <a:t>real-time</a:t>
            </a:r>
            <a:r>
              <a:rPr dirty="0" sz="1900" spc="-130">
                <a:latin typeface="Tahoma"/>
                <a:cs typeface="Tahoma"/>
              </a:rPr>
              <a:t> </a:t>
            </a:r>
            <a:r>
              <a:rPr dirty="0" sz="1900" spc="-20">
                <a:latin typeface="Tahoma"/>
                <a:cs typeface="Tahoma"/>
              </a:rPr>
              <a:t>data</a:t>
            </a:r>
            <a:r>
              <a:rPr dirty="0" sz="1900" spc="-165">
                <a:latin typeface="Tahoma"/>
                <a:cs typeface="Tahoma"/>
              </a:rPr>
              <a:t> </a:t>
            </a:r>
            <a:r>
              <a:rPr dirty="0" sz="1900" spc="-10">
                <a:latin typeface="Tahoma"/>
                <a:cs typeface="Tahoma"/>
              </a:rPr>
              <a:t>dashboards</a:t>
            </a:r>
            <a:r>
              <a:rPr dirty="0" sz="1900" spc="-225">
                <a:latin typeface="Tahoma"/>
                <a:cs typeface="Tahoma"/>
              </a:rPr>
              <a:t> </a:t>
            </a:r>
            <a:r>
              <a:rPr dirty="0" sz="1900">
                <a:latin typeface="Tahoma"/>
                <a:cs typeface="Tahoma"/>
              </a:rPr>
              <a:t>with</a:t>
            </a:r>
            <a:r>
              <a:rPr dirty="0" sz="1900" spc="-140">
                <a:latin typeface="Tahoma"/>
                <a:cs typeface="Tahoma"/>
              </a:rPr>
              <a:t> </a:t>
            </a:r>
            <a:r>
              <a:rPr dirty="0" sz="1900">
                <a:latin typeface="Tahoma"/>
                <a:cs typeface="Tahoma"/>
              </a:rPr>
              <a:t>predicted</a:t>
            </a:r>
            <a:r>
              <a:rPr dirty="0" sz="1900" spc="-160">
                <a:latin typeface="Tahoma"/>
                <a:cs typeface="Tahoma"/>
              </a:rPr>
              <a:t> </a:t>
            </a:r>
            <a:r>
              <a:rPr dirty="0" sz="1900" spc="-25">
                <a:latin typeface="Tahoma"/>
                <a:cs typeface="Tahoma"/>
              </a:rPr>
              <a:t>vs.</a:t>
            </a:r>
            <a:endParaRPr sz="19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dirty="0" sz="1900">
                <a:latin typeface="Tahoma"/>
                <a:cs typeface="Tahoma"/>
              </a:rPr>
              <a:t>actual</a:t>
            </a:r>
            <a:r>
              <a:rPr dirty="0" sz="1900" spc="-204">
                <a:latin typeface="Tahoma"/>
                <a:cs typeface="Tahoma"/>
              </a:rPr>
              <a:t> </a:t>
            </a:r>
            <a:r>
              <a:rPr dirty="0" sz="1900">
                <a:latin typeface="Tahoma"/>
                <a:cs typeface="Tahoma"/>
              </a:rPr>
              <a:t>waste</a:t>
            </a:r>
            <a:r>
              <a:rPr dirty="0" sz="1900" spc="-160">
                <a:latin typeface="Tahoma"/>
                <a:cs typeface="Tahoma"/>
              </a:rPr>
              <a:t> </a:t>
            </a:r>
            <a:r>
              <a:rPr dirty="0" sz="1900" spc="-10">
                <a:latin typeface="Tahoma"/>
                <a:cs typeface="Tahoma"/>
              </a:rPr>
              <a:t>deltas</a:t>
            </a:r>
            <a:endParaRPr sz="1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880"/>
              </a:spcBef>
            </a:pPr>
            <a:endParaRPr sz="19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50"/>
              <a:t>Integration</a:t>
            </a:r>
          </a:p>
          <a:p>
            <a:pPr marL="12700">
              <a:lnSpc>
                <a:spcPct val="100000"/>
              </a:lnSpc>
              <a:spcBef>
                <a:spcPts val="1730"/>
              </a:spcBef>
            </a:pPr>
            <a:r>
              <a:rPr dirty="0" sz="1900">
                <a:latin typeface="Tahoma"/>
                <a:cs typeface="Tahoma"/>
              </a:rPr>
              <a:t>Twilio</a:t>
            </a:r>
            <a:r>
              <a:rPr dirty="0" sz="1900" spc="-150">
                <a:latin typeface="Tahoma"/>
                <a:cs typeface="Tahoma"/>
              </a:rPr>
              <a:t> </a:t>
            </a:r>
            <a:r>
              <a:rPr dirty="0" sz="1900" spc="-60">
                <a:latin typeface="Tahoma"/>
                <a:cs typeface="Tahoma"/>
              </a:rPr>
              <a:t>API</a:t>
            </a:r>
            <a:r>
              <a:rPr dirty="0" sz="1900" spc="-145">
                <a:latin typeface="Tahoma"/>
                <a:cs typeface="Tahoma"/>
              </a:rPr>
              <a:t> </a:t>
            </a:r>
            <a:r>
              <a:rPr dirty="0" sz="1900">
                <a:latin typeface="Tahoma"/>
                <a:cs typeface="Tahoma"/>
              </a:rPr>
              <a:t>sends</a:t>
            </a:r>
            <a:r>
              <a:rPr dirty="0" sz="1900" spc="-215">
                <a:latin typeface="Tahoma"/>
                <a:cs typeface="Tahoma"/>
              </a:rPr>
              <a:t> </a:t>
            </a:r>
            <a:r>
              <a:rPr dirty="0" sz="1900" spc="-20">
                <a:latin typeface="Tahoma"/>
                <a:cs typeface="Tahoma"/>
              </a:rPr>
              <a:t>automated</a:t>
            </a:r>
            <a:r>
              <a:rPr dirty="0" sz="1900" spc="-110">
                <a:latin typeface="Tahoma"/>
                <a:cs typeface="Tahoma"/>
              </a:rPr>
              <a:t> </a:t>
            </a:r>
            <a:r>
              <a:rPr dirty="0" sz="1900" spc="-10">
                <a:latin typeface="Tahoma"/>
                <a:cs typeface="Tahoma"/>
              </a:rPr>
              <a:t>SMS</a:t>
            </a:r>
            <a:r>
              <a:rPr dirty="0" sz="1900" spc="-150">
                <a:latin typeface="Tahoma"/>
                <a:cs typeface="Tahoma"/>
              </a:rPr>
              <a:t> </a:t>
            </a:r>
            <a:r>
              <a:rPr dirty="0" sz="1900">
                <a:latin typeface="Tahoma"/>
                <a:cs typeface="Tahoma"/>
              </a:rPr>
              <a:t>alerts</a:t>
            </a:r>
            <a:r>
              <a:rPr dirty="0" sz="1900" spc="-135">
                <a:latin typeface="Tahoma"/>
                <a:cs typeface="Tahoma"/>
              </a:rPr>
              <a:t> </a:t>
            </a:r>
            <a:r>
              <a:rPr dirty="0" sz="1900">
                <a:latin typeface="Tahoma"/>
                <a:cs typeface="Tahoma"/>
              </a:rPr>
              <a:t>to</a:t>
            </a:r>
            <a:r>
              <a:rPr dirty="0" sz="1900" spc="-145">
                <a:latin typeface="Tahoma"/>
                <a:cs typeface="Tahoma"/>
              </a:rPr>
              <a:t> </a:t>
            </a:r>
            <a:r>
              <a:rPr dirty="0" sz="1900">
                <a:latin typeface="Tahoma"/>
                <a:cs typeface="Tahoma"/>
              </a:rPr>
              <a:t>kitchen</a:t>
            </a:r>
            <a:r>
              <a:rPr dirty="0" sz="1900" spc="-225">
                <a:latin typeface="Tahoma"/>
                <a:cs typeface="Tahoma"/>
              </a:rPr>
              <a:t> </a:t>
            </a:r>
            <a:r>
              <a:rPr dirty="0" sz="1900">
                <a:latin typeface="Tahoma"/>
                <a:cs typeface="Tahoma"/>
              </a:rPr>
              <a:t>staff</a:t>
            </a:r>
            <a:r>
              <a:rPr dirty="0" sz="1900" spc="-145">
                <a:latin typeface="Tahoma"/>
                <a:cs typeface="Tahoma"/>
              </a:rPr>
              <a:t> </a:t>
            </a:r>
            <a:r>
              <a:rPr dirty="0" sz="1900" spc="-10">
                <a:latin typeface="Tahoma"/>
                <a:cs typeface="Tahoma"/>
              </a:rPr>
              <a:t>phones</a:t>
            </a:r>
            <a:endParaRPr sz="19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98039" y="435102"/>
            <a:ext cx="3616960" cy="4756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50" spc="165" b="0">
                <a:latin typeface="Malgun Gothic Semilight"/>
                <a:cs typeface="Malgun Gothic Semilight"/>
              </a:rPr>
              <a:t>Sys</a:t>
            </a:r>
            <a:r>
              <a:rPr dirty="0" sz="2950" spc="-420" b="0">
                <a:latin typeface="Malgun Gothic Semilight"/>
                <a:cs typeface="Malgun Gothic Semilight"/>
              </a:rPr>
              <a:t> </a:t>
            </a:r>
            <a:r>
              <a:rPr dirty="0" sz="2950" b="0">
                <a:latin typeface="Malgun Gothic Semilight"/>
                <a:cs typeface="Malgun Gothic Semilight"/>
              </a:rPr>
              <a:t>tem</a:t>
            </a:r>
            <a:r>
              <a:rPr dirty="0" sz="2950" spc="170" b="0">
                <a:latin typeface="Malgun Gothic Semilight"/>
                <a:cs typeface="Malgun Gothic Semilight"/>
              </a:rPr>
              <a:t> </a:t>
            </a:r>
            <a:r>
              <a:rPr dirty="0" sz="2950" spc="100" b="0">
                <a:latin typeface="Malgun Gothic Semilight"/>
                <a:cs typeface="Malgun Gothic Semilight"/>
              </a:rPr>
              <a:t>Architecture</a:t>
            </a:r>
            <a:endParaRPr sz="2950">
              <a:latin typeface="Malgun Gothic Semilight"/>
              <a:cs typeface="Malgun Gothic Semiligh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098039" y="1172083"/>
            <a:ext cx="1038860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20">
                <a:solidFill>
                  <a:srgbClr val="DFE3E6"/>
                </a:solidFill>
                <a:latin typeface="Tahoma"/>
                <a:cs typeface="Tahoma"/>
              </a:rPr>
              <a:t>How</a:t>
            </a:r>
            <a:r>
              <a:rPr dirty="0" sz="1300" spc="-125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DFE3E6"/>
                </a:solidFill>
                <a:latin typeface="Tahoma"/>
                <a:cs typeface="Tahoma"/>
              </a:rPr>
              <a:t>students,</a:t>
            </a:r>
            <a:r>
              <a:rPr dirty="0" sz="1300" spc="-65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DFE3E6"/>
                </a:solidFill>
                <a:latin typeface="Tahoma"/>
                <a:cs typeface="Tahoma"/>
              </a:rPr>
              <a:t>administrators,</a:t>
            </a:r>
            <a:r>
              <a:rPr dirty="0" sz="1300" spc="10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300" spc="-40">
                <a:solidFill>
                  <a:srgbClr val="DFE3E6"/>
                </a:solidFill>
                <a:latin typeface="Tahoma"/>
                <a:cs typeface="Tahoma"/>
              </a:rPr>
              <a:t>and</a:t>
            </a:r>
            <a:r>
              <a:rPr dirty="0" sz="1300" spc="-70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DFE3E6"/>
                </a:solidFill>
                <a:latin typeface="Tahoma"/>
                <a:cs typeface="Tahoma"/>
              </a:rPr>
              <a:t>kitchen</a:t>
            </a:r>
            <a:r>
              <a:rPr dirty="0" sz="1300" spc="-100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DFE3E6"/>
                </a:solidFill>
                <a:latin typeface="Tahoma"/>
                <a:cs typeface="Tahoma"/>
              </a:rPr>
              <a:t>staff</a:t>
            </a:r>
            <a:r>
              <a:rPr dirty="0" sz="1300" spc="-75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DFE3E6"/>
                </a:solidFill>
                <a:latin typeface="Tahoma"/>
                <a:cs typeface="Tahoma"/>
              </a:rPr>
              <a:t>connect</a:t>
            </a:r>
            <a:r>
              <a:rPr dirty="0" sz="1300" spc="-90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300" spc="-25">
                <a:solidFill>
                  <a:srgbClr val="DFE3E6"/>
                </a:solidFill>
                <a:latin typeface="Tahoma"/>
                <a:cs typeface="Tahoma"/>
              </a:rPr>
              <a:t>through</a:t>
            </a:r>
            <a:r>
              <a:rPr dirty="0" sz="1300" spc="-60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300" spc="-35">
                <a:solidFill>
                  <a:srgbClr val="DFE3E6"/>
                </a:solidFill>
                <a:latin typeface="Tahoma"/>
                <a:cs typeface="Tahoma"/>
              </a:rPr>
              <a:t>a</a:t>
            </a:r>
            <a:r>
              <a:rPr dirty="0" sz="1300" spc="-100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DFE3E6"/>
                </a:solidFill>
                <a:latin typeface="Tahoma"/>
                <a:cs typeface="Tahoma"/>
              </a:rPr>
              <a:t>central</a:t>
            </a:r>
            <a:r>
              <a:rPr dirty="0" sz="1300" spc="-55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DFE3E6"/>
                </a:solidFill>
                <a:latin typeface="Tahoma"/>
                <a:cs typeface="Tahoma"/>
              </a:rPr>
              <a:t>prediction</a:t>
            </a:r>
            <a:r>
              <a:rPr dirty="0" sz="1300" spc="-100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300" spc="-25">
                <a:solidFill>
                  <a:srgbClr val="DFE3E6"/>
                </a:solidFill>
                <a:latin typeface="Tahoma"/>
                <a:cs typeface="Tahoma"/>
              </a:rPr>
              <a:t>engine</a:t>
            </a:r>
            <a:r>
              <a:rPr dirty="0" sz="1300" spc="-50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DFE3E6"/>
                </a:solidFill>
                <a:latin typeface="Tahoma"/>
                <a:cs typeface="Tahoma"/>
              </a:rPr>
              <a:t>to</a:t>
            </a:r>
            <a:r>
              <a:rPr dirty="0" sz="1300" spc="-114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DFE3E6"/>
                </a:solidFill>
                <a:latin typeface="Tahoma"/>
                <a:cs typeface="Tahoma"/>
              </a:rPr>
              <a:t>generate</a:t>
            </a:r>
            <a:r>
              <a:rPr dirty="0" sz="1300" spc="-15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DFE3E6"/>
                </a:solidFill>
                <a:latin typeface="Tahoma"/>
                <a:cs typeface="Tahoma"/>
              </a:rPr>
              <a:t>real-time</a:t>
            </a:r>
            <a:r>
              <a:rPr dirty="0" sz="1300" spc="-50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DFE3E6"/>
                </a:solidFill>
                <a:latin typeface="Tahoma"/>
                <a:cs typeface="Tahoma"/>
              </a:rPr>
              <a:t>alerts</a:t>
            </a:r>
            <a:r>
              <a:rPr dirty="0" sz="1300" spc="-60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300" spc="-40">
                <a:solidFill>
                  <a:srgbClr val="DFE3E6"/>
                </a:solidFill>
                <a:latin typeface="Tahoma"/>
                <a:cs typeface="Tahoma"/>
              </a:rPr>
              <a:t>and</a:t>
            </a:r>
            <a:r>
              <a:rPr dirty="0" sz="1300" spc="-70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DFE3E6"/>
                </a:solidFill>
                <a:latin typeface="Tahoma"/>
                <a:cs typeface="Tahoma"/>
              </a:rPr>
              <a:t>operational</a:t>
            </a:r>
            <a:r>
              <a:rPr dirty="0" sz="1300" spc="-55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DFE3E6"/>
                </a:solidFill>
                <a:latin typeface="Tahoma"/>
                <a:cs typeface="Tahoma"/>
              </a:rPr>
              <a:t>insights.</a:t>
            </a:r>
            <a:endParaRPr sz="13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12264" y="1764792"/>
            <a:ext cx="10405872" cy="5404104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6706869" y="4056126"/>
            <a:ext cx="1194435" cy="774700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marL="12700" marR="5080" indent="228600">
              <a:lnSpc>
                <a:spcPct val="106500"/>
              </a:lnSpc>
              <a:spcBef>
                <a:spcPts val="10"/>
              </a:spcBef>
            </a:pPr>
            <a:r>
              <a:rPr dirty="0" sz="1550">
                <a:latin typeface="Malgun Gothic Semilight"/>
                <a:cs typeface="Malgun Gothic Semilight"/>
              </a:rPr>
              <a:t>S</a:t>
            </a:r>
            <a:r>
              <a:rPr dirty="0" sz="1550" spc="-215">
                <a:latin typeface="Malgun Gothic Semilight"/>
                <a:cs typeface="Malgun Gothic Semilight"/>
              </a:rPr>
              <a:t> </a:t>
            </a:r>
            <a:r>
              <a:rPr dirty="0" sz="1550" spc="65">
                <a:latin typeface="Malgun Gothic Semilight"/>
                <a:cs typeface="Malgun Gothic Semilight"/>
              </a:rPr>
              <a:t>ys</a:t>
            </a:r>
            <a:r>
              <a:rPr dirty="0" sz="1550" spc="-215">
                <a:latin typeface="Malgun Gothic Semilight"/>
                <a:cs typeface="Malgun Gothic Semilight"/>
              </a:rPr>
              <a:t> </a:t>
            </a:r>
            <a:r>
              <a:rPr dirty="0" sz="1550" spc="-25">
                <a:latin typeface="Malgun Gothic Semilight"/>
                <a:cs typeface="Malgun Gothic Semilight"/>
              </a:rPr>
              <a:t>tem </a:t>
            </a:r>
            <a:r>
              <a:rPr dirty="0" sz="1550" spc="60">
                <a:latin typeface="Malgun Gothic Semilight"/>
                <a:cs typeface="Malgun Gothic Semilight"/>
              </a:rPr>
              <a:t>Architecture</a:t>
            </a:r>
            <a:endParaRPr sz="1550">
              <a:latin typeface="Malgun Gothic Semilight"/>
              <a:cs typeface="Malgun Gothic Semilight"/>
            </a:endParaRPr>
          </a:p>
          <a:p>
            <a:pPr algn="ctr">
              <a:lnSpc>
                <a:spcPct val="100000"/>
              </a:lnSpc>
              <a:spcBef>
                <a:spcPts val="160"/>
              </a:spcBef>
            </a:pPr>
            <a:r>
              <a:rPr dirty="0" sz="1550" spc="-25">
                <a:latin typeface="Malgun Gothic Semilight"/>
                <a:cs typeface="Malgun Gothic Semilight"/>
              </a:rPr>
              <a:t>Hub</a:t>
            </a:r>
            <a:endParaRPr sz="1550">
              <a:latin typeface="Malgun Gothic Semilight"/>
              <a:cs typeface="Malgun Gothic Semilight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5445252" y="2642616"/>
            <a:ext cx="3488690" cy="3909060"/>
            <a:chOff x="5445252" y="2642616"/>
            <a:chExt cx="3488690" cy="390906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25312" y="3195828"/>
              <a:ext cx="260603" cy="26517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12480" y="2642616"/>
              <a:ext cx="260603" cy="26060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45252" y="5436108"/>
              <a:ext cx="260603" cy="26517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68512" y="6291072"/>
              <a:ext cx="265175" cy="260604"/>
            </a:xfrm>
            <a:prstGeom prst="rect">
              <a:avLst/>
            </a:prstGeom>
          </p:spPr>
        </p:pic>
      </p:grpSp>
      <p:sp>
        <p:nvSpPr>
          <p:cNvPr id="11" name="object 11" descr=""/>
          <p:cNvSpPr txBox="1"/>
          <p:nvPr/>
        </p:nvSpPr>
        <p:spPr>
          <a:xfrm>
            <a:off x="2344292" y="2772416"/>
            <a:ext cx="1945639" cy="831850"/>
          </a:xfrm>
          <a:prstGeom prst="rect">
            <a:avLst/>
          </a:prstGeom>
        </p:spPr>
        <p:txBody>
          <a:bodyPr wrap="square" lIns="0" tIns="10413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dirty="0" sz="1550">
                <a:solidFill>
                  <a:srgbClr val="DFE3E6"/>
                </a:solidFill>
                <a:latin typeface="Malgun Gothic Semilight"/>
                <a:cs typeface="Malgun Gothic Semilight"/>
              </a:rPr>
              <a:t>S</a:t>
            </a:r>
            <a:r>
              <a:rPr dirty="0" sz="1550" spc="-225">
                <a:solidFill>
                  <a:srgbClr val="DFE3E6"/>
                </a:solidFill>
                <a:latin typeface="Malgun Gothic Semilight"/>
                <a:cs typeface="Malgun Gothic Semilight"/>
              </a:rPr>
              <a:t> </a:t>
            </a:r>
            <a:r>
              <a:rPr dirty="0" sz="1550" spc="45">
                <a:solidFill>
                  <a:srgbClr val="DFE3E6"/>
                </a:solidFill>
                <a:latin typeface="Malgun Gothic Semilight"/>
                <a:cs typeface="Malgun Gothic Semilight"/>
              </a:rPr>
              <a:t>tudents</a:t>
            </a:r>
            <a:r>
              <a:rPr dirty="0" sz="1550" spc="330">
                <a:solidFill>
                  <a:srgbClr val="DFE3E6"/>
                </a:solidFill>
                <a:latin typeface="Malgun Gothic Semilight"/>
                <a:cs typeface="Malgun Gothic Semilight"/>
              </a:rPr>
              <a:t> </a:t>
            </a:r>
            <a:r>
              <a:rPr dirty="0" sz="1550" spc="40">
                <a:solidFill>
                  <a:srgbClr val="DFE3E6"/>
                </a:solidFill>
                <a:latin typeface="Malgun Gothic Semilight"/>
                <a:cs typeface="Malgun Gothic Semilight"/>
              </a:rPr>
              <a:t>Portal</a:t>
            </a:r>
            <a:endParaRPr sz="1550">
              <a:latin typeface="Malgun Gothic Semilight"/>
              <a:cs typeface="Malgun Gothic Semilight"/>
            </a:endParaRPr>
          </a:p>
          <a:p>
            <a:pPr marL="12700">
              <a:lnSpc>
                <a:spcPts val="1575"/>
              </a:lnSpc>
              <a:spcBef>
                <a:spcPts val="625"/>
              </a:spcBef>
            </a:pPr>
            <a:r>
              <a:rPr dirty="0" sz="1450" spc="-25">
                <a:solidFill>
                  <a:srgbClr val="DFE3E6"/>
                </a:solidFill>
                <a:latin typeface="Tahoma"/>
                <a:cs typeface="Tahoma"/>
              </a:rPr>
              <a:t>Mobile</a:t>
            </a:r>
            <a:r>
              <a:rPr dirty="0" sz="1450" spc="-65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DFE3E6"/>
                </a:solidFill>
                <a:latin typeface="Tahoma"/>
                <a:cs typeface="Tahoma"/>
              </a:rPr>
              <a:t>registrations</a:t>
            </a:r>
            <a:r>
              <a:rPr dirty="0" sz="1450" spc="-65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450" spc="-25">
                <a:solidFill>
                  <a:srgbClr val="DFE3E6"/>
                </a:solidFill>
                <a:latin typeface="Tahoma"/>
                <a:cs typeface="Tahoma"/>
              </a:rPr>
              <a:t>and</a:t>
            </a:r>
            <a:endParaRPr sz="1450">
              <a:latin typeface="Tahoma"/>
              <a:cs typeface="Tahoma"/>
            </a:endParaRPr>
          </a:p>
          <a:p>
            <a:pPr marL="12700">
              <a:lnSpc>
                <a:spcPts val="1575"/>
              </a:lnSpc>
            </a:pPr>
            <a:r>
              <a:rPr dirty="0" sz="1450" spc="-30">
                <a:solidFill>
                  <a:srgbClr val="DFE3E6"/>
                </a:solidFill>
                <a:latin typeface="Tahoma"/>
                <a:cs typeface="Tahoma"/>
              </a:rPr>
              <a:t>usage</a:t>
            </a:r>
            <a:r>
              <a:rPr dirty="0" sz="1450" spc="-85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450" spc="-20">
                <a:solidFill>
                  <a:srgbClr val="DFE3E6"/>
                </a:solidFill>
                <a:latin typeface="Tahoma"/>
                <a:cs typeface="Tahoma"/>
              </a:rPr>
              <a:t>data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0013695" y="2772416"/>
            <a:ext cx="1979930" cy="831850"/>
          </a:xfrm>
          <a:prstGeom prst="rect">
            <a:avLst/>
          </a:prstGeom>
        </p:spPr>
        <p:txBody>
          <a:bodyPr wrap="square" lIns="0" tIns="10413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dirty="0" sz="1550" spc="65">
                <a:solidFill>
                  <a:srgbClr val="DFE3E6"/>
                </a:solidFill>
                <a:latin typeface="Malgun Gothic Semilight"/>
                <a:cs typeface="Malgun Gothic Semilight"/>
              </a:rPr>
              <a:t>Prediction</a:t>
            </a:r>
            <a:r>
              <a:rPr dirty="0" sz="1550" spc="130">
                <a:solidFill>
                  <a:srgbClr val="DFE3E6"/>
                </a:solidFill>
                <a:latin typeface="Malgun Gothic Semilight"/>
                <a:cs typeface="Malgun Gothic Semilight"/>
              </a:rPr>
              <a:t> </a:t>
            </a:r>
            <a:r>
              <a:rPr dirty="0" sz="1550">
                <a:solidFill>
                  <a:srgbClr val="DFE3E6"/>
                </a:solidFill>
                <a:latin typeface="Malgun Gothic Semilight"/>
                <a:cs typeface="Malgun Gothic Semilight"/>
              </a:rPr>
              <a:t>E</a:t>
            </a:r>
            <a:r>
              <a:rPr dirty="0" sz="1550" spc="-204">
                <a:solidFill>
                  <a:srgbClr val="DFE3E6"/>
                </a:solidFill>
                <a:latin typeface="Malgun Gothic Semilight"/>
                <a:cs typeface="Malgun Gothic Semilight"/>
              </a:rPr>
              <a:t> </a:t>
            </a:r>
            <a:r>
              <a:rPr dirty="0" sz="1550" spc="-10">
                <a:solidFill>
                  <a:srgbClr val="DFE3E6"/>
                </a:solidFill>
                <a:latin typeface="Malgun Gothic Semilight"/>
                <a:cs typeface="Malgun Gothic Semilight"/>
              </a:rPr>
              <a:t>ngine</a:t>
            </a:r>
            <a:endParaRPr sz="1550">
              <a:latin typeface="Malgun Gothic Semilight"/>
              <a:cs typeface="Malgun Gothic Semilight"/>
            </a:endParaRPr>
          </a:p>
          <a:p>
            <a:pPr marL="12700">
              <a:lnSpc>
                <a:spcPts val="1575"/>
              </a:lnSpc>
              <a:spcBef>
                <a:spcPts val="625"/>
              </a:spcBef>
            </a:pPr>
            <a:r>
              <a:rPr dirty="0" sz="1450" spc="-10">
                <a:solidFill>
                  <a:srgbClr val="DFE3E6"/>
                </a:solidFill>
                <a:latin typeface="Tahoma"/>
                <a:cs typeface="Tahoma"/>
              </a:rPr>
              <a:t>Central</a:t>
            </a:r>
            <a:r>
              <a:rPr dirty="0" sz="1450" spc="-105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450" spc="-45">
                <a:solidFill>
                  <a:srgbClr val="DFE3E6"/>
                </a:solidFill>
                <a:latin typeface="Tahoma"/>
                <a:cs typeface="Tahoma"/>
              </a:rPr>
              <a:t>hub</a:t>
            </a:r>
            <a:r>
              <a:rPr dirty="0" sz="1450" spc="-135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DFE3E6"/>
                </a:solidFill>
                <a:latin typeface="Tahoma"/>
                <a:cs typeface="Tahoma"/>
              </a:rPr>
              <a:t>for</a:t>
            </a:r>
            <a:r>
              <a:rPr dirty="0" sz="1450" spc="-120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450" spc="-10">
                <a:solidFill>
                  <a:srgbClr val="DFE3E6"/>
                </a:solidFill>
                <a:latin typeface="Tahoma"/>
                <a:cs typeface="Tahoma"/>
              </a:rPr>
              <a:t>real-</a:t>
            </a:r>
            <a:r>
              <a:rPr dirty="0" sz="1450" spc="-20">
                <a:solidFill>
                  <a:srgbClr val="DFE3E6"/>
                </a:solidFill>
                <a:latin typeface="Tahoma"/>
                <a:cs typeface="Tahoma"/>
              </a:rPr>
              <a:t>time</a:t>
            </a:r>
            <a:endParaRPr sz="1450">
              <a:latin typeface="Tahoma"/>
              <a:cs typeface="Tahoma"/>
            </a:endParaRPr>
          </a:p>
          <a:p>
            <a:pPr marL="12700">
              <a:lnSpc>
                <a:spcPts val="1575"/>
              </a:lnSpc>
            </a:pPr>
            <a:r>
              <a:rPr dirty="0" sz="1450" spc="-10">
                <a:solidFill>
                  <a:srgbClr val="DFE3E6"/>
                </a:solidFill>
                <a:latin typeface="Tahoma"/>
                <a:cs typeface="Tahoma"/>
              </a:rPr>
              <a:t>predictions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2344292" y="5265496"/>
            <a:ext cx="2200910" cy="100203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550">
                <a:solidFill>
                  <a:srgbClr val="DFE3E6"/>
                </a:solidFill>
                <a:latin typeface="Malgun Gothic Semilight"/>
                <a:cs typeface="Malgun Gothic Semilight"/>
              </a:rPr>
              <a:t>K</a:t>
            </a:r>
            <a:r>
              <a:rPr dirty="0" sz="1550" spc="-170">
                <a:solidFill>
                  <a:srgbClr val="DFE3E6"/>
                </a:solidFill>
                <a:latin typeface="Malgun Gothic Semilight"/>
                <a:cs typeface="Malgun Gothic Semilight"/>
              </a:rPr>
              <a:t> </a:t>
            </a:r>
            <a:r>
              <a:rPr dirty="0" sz="1550" spc="65">
                <a:solidFill>
                  <a:srgbClr val="DFE3E6"/>
                </a:solidFill>
                <a:latin typeface="Malgun Gothic Semilight"/>
                <a:cs typeface="Malgun Gothic Semilight"/>
              </a:rPr>
              <a:t>itchen</a:t>
            </a:r>
            <a:r>
              <a:rPr dirty="0" sz="1550" spc="170">
                <a:solidFill>
                  <a:srgbClr val="DFE3E6"/>
                </a:solidFill>
                <a:latin typeface="Malgun Gothic Semilight"/>
                <a:cs typeface="Malgun Gothic Semilight"/>
              </a:rPr>
              <a:t> </a:t>
            </a:r>
            <a:r>
              <a:rPr dirty="0" sz="1550">
                <a:solidFill>
                  <a:srgbClr val="DFE3E6"/>
                </a:solidFill>
                <a:latin typeface="Malgun Gothic Semilight"/>
                <a:cs typeface="Malgun Gothic Semilight"/>
              </a:rPr>
              <a:t>S</a:t>
            </a:r>
            <a:r>
              <a:rPr dirty="0" sz="1550" spc="-215">
                <a:solidFill>
                  <a:srgbClr val="DFE3E6"/>
                </a:solidFill>
                <a:latin typeface="Malgun Gothic Semilight"/>
                <a:cs typeface="Malgun Gothic Semilight"/>
              </a:rPr>
              <a:t> </a:t>
            </a:r>
            <a:r>
              <a:rPr dirty="0" sz="1550" spc="-20">
                <a:solidFill>
                  <a:srgbClr val="DFE3E6"/>
                </a:solidFill>
                <a:latin typeface="Malgun Gothic Semilight"/>
                <a:cs typeface="Malgun Gothic Semilight"/>
              </a:rPr>
              <a:t>taff</a:t>
            </a:r>
            <a:endParaRPr sz="1550">
              <a:latin typeface="Malgun Gothic Semilight"/>
              <a:cs typeface="Malgun Gothic Semilight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>
                <a:solidFill>
                  <a:srgbClr val="DFE3E6"/>
                </a:solidFill>
                <a:latin typeface="Malgun Gothic Semilight"/>
                <a:cs typeface="Malgun Gothic Semilight"/>
              </a:rPr>
              <a:t>Das</a:t>
            </a:r>
            <a:r>
              <a:rPr dirty="0" sz="1550" spc="-95">
                <a:solidFill>
                  <a:srgbClr val="DFE3E6"/>
                </a:solidFill>
                <a:latin typeface="Malgun Gothic Semilight"/>
                <a:cs typeface="Malgun Gothic Semilight"/>
              </a:rPr>
              <a:t> </a:t>
            </a:r>
            <a:r>
              <a:rPr dirty="0" sz="1550" spc="45">
                <a:solidFill>
                  <a:srgbClr val="DFE3E6"/>
                </a:solidFill>
                <a:latin typeface="Malgun Gothic Semilight"/>
                <a:cs typeface="Malgun Gothic Semilight"/>
              </a:rPr>
              <a:t>hboard</a:t>
            </a:r>
            <a:endParaRPr sz="1550">
              <a:latin typeface="Malgun Gothic Semilight"/>
              <a:cs typeface="Malgun Gothic Semilight"/>
            </a:endParaRPr>
          </a:p>
          <a:p>
            <a:pPr marL="12700">
              <a:lnSpc>
                <a:spcPts val="1570"/>
              </a:lnSpc>
              <a:spcBef>
                <a:spcPts val="665"/>
              </a:spcBef>
            </a:pPr>
            <a:r>
              <a:rPr dirty="0" sz="1450" spc="-25">
                <a:solidFill>
                  <a:srgbClr val="DFE3E6"/>
                </a:solidFill>
                <a:latin typeface="Tahoma"/>
                <a:cs typeface="Tahoma"/>
              </a:rPr>
              <a:t>Operational</a:t>
            </a:r>
            <a:r>
              <a:rPr dirty="0" sz="1450" spc="-100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DFE3E6"/>
                </a:solidFill>
                <a:latin typeface="Tahoma"/>
                <a:cs typeface="Tahoma"/>
              </a:rPr>
              <a:t>alerts</a:t>
            </a:r>
            <a:r>
              <a:rPr dirty="0" sz="1450" spc="-95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450" spc="-35">
                <a:solidFill>
                  <a:srgbClr val="DFE3E6"/>
                </a:solidFill>
                <a:latin typeface="Tahoma"/>
                <a:cs typeface="Tahoma"/>
              </a:rPr>
              <a:t>and</a:t>
            </a:r>
            <a:r>
              <a:rPr dirty="0" sz="1450" spc="-85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450" spc="-20">
                <a:solidFill>
                  <a:srgbClr val="DFE3E6"/>
                </a:solidFill>
                <a:latin typeface="Tahoma"/>
                <a:cs typeface="Tahoma"/>
              </a:rPr>
              <a:t>meal</a:t>
            </a:r>
            <a:endParaRPr sz="1450">
              <a:latin typeface="Tahoma"/>
              <a:cs typeface="Tahoma"/>
            </a:endParaRPr>
          </a:p>
          <a:p>
            <a:pPr marL="12700">
              <a:lnSpc>
                <a:spcPts val="1570"/>
              </a:lnSpc>
            </a:pPr>
            <a:r>
              <a:rPr dirty="0" sz="1450" spc="-10">
                <a:solidFill>
                  <a:srgbClr val="DFE3E6"/>
                </a:solidFill>
                <a:latin typeface="Tahoma"/>
                <a:cs typeface="Tahoma"/>
              </a:rPr>
              <a:t>forecasts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0013695" y="5265496"/>
            <a:ext cx="2120900" cy="100203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550" spc="60">
                <a:solidFill>
                  <a:srgbClr val="DFE3E6"/>
                </a:solidFill>
                <a:latin typeface="Malgun Gothic Semilight"/>
                <a:cs typeface="Malgun Gothic Semilight"/>
              </a:rPr>
              <a:t>Adminis</a:t>
            </a:r>
            <a:r>
              <a:rPr dirty="0" sz="1550" spc="-200">
                <a:solidFill>
                  <a:srgbClr val="DFE3E6"/>
                </a:solidFill>
                <a:latin typeface="Malgun Gothic Semilight"/>
                <a:cs typeface="Malgun Gothic Semilight"/>
              </a:rPr>
              <a:t> </a:t>
            </a:r>
            <a:r>
              <a:rPr dirty="0" sz="1550" spc="-10">
                <a:solidFill>
                  <a:srgbClr val="DFE3E6"/>
                </a:solidFill>
                <a:latin typeface="Malgun Gothic Semilight"/>
                <a:cs typeface="Malgun Gothic Semilight"/>
              </a:rPr>
              <a:t>trators</a:t>
            </a:r>
            <a:endParaRPr sz="1550">
              <a:latin typeface="Malgun Gothic Semilight"/>
              <a:cs typeface="Malgun Gothic Semilight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 spc="65">
                <a:solidFill>
                  <a:srgbClr val="DFE3E6"/>
                </a:solidFill>
                <a:latin typeface="Malgun Gothic Semilight"/>
                <a:cs typeface="Malgun Gothic Semilight"/>
              </a:rPr>
              <a:t>Analytics</a:t>
            </a:r>
            <a:endParaRPr sz="1550">
              <a:latin typeface="Malgun Gothic Semilight"/>
              <a:cs typeface="Malgun Gothic Semilight"/>
            </a:endParaRPr>
          </a:p>
          <a:p>
            <a:pPr marL="12700">
              <a:lnSpc>
                <a:spcPts val="1570"/>
              </a:lnSpc>
              <a:spcBef>
                <a:spcPts val="665"/>
              </a:spcBef>
            </a:pPr>
            <a:r>
              <a:rPr dirty="0" sz="1450" spc="-25">
                <a:solidFill>
                  <a:srgbClr val="DFE3E6"/>
                </a:solidFill>
                <a:latin typeface="Tahoma"/>
                <a:cs typeface="Tahoma"/>
              </a:rPr>
              <a:t>Dashboards</a:t>
            </a:r>
            <a:r>
              <a:rPr dirty="0" sz="1450" spc="-100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DFE3E6"/>
                </a:solidFill>
                <a:latin typeface="Tahoma"/>
                <a:cs typeface="Tahoma"/>
              </a:rPr>
              <a:t>for</a:t>
            </a:r>
            <a:r>
              <a:rPr dirty="0" sz="1450" spc="-114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DFE3E6"/>
                </a:solidFill>
                <a:latin typeface="Tahoma"/>
                <a:cs typeface="Tahoma"/>
              </a:rPr>
              <a:t>trends</a:t>
            </a:r>
            <a:r>
              <a:rPr dirty="0" sz="1450" spc="-175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450" spc="-25">
                <a:solidFill>
                  <a:srgbClr val="DFE3E6"/>
                </a:solidFill>
                <a:latin typeface="Tahoma"/>
                <a:cs typeface="Tahoma"/>
              </a:rPr>
              <a:t>and</a:t>
            </a:r>
            <a:endParaRPr sz="1450">
              <a:latin typeface="Tahoma"/>
              <a:cs typeface="Tahoma"/>
            </a:endParaRPr>
          </a:p>
          <a:p>
            <a:pPr marL="12700">
              <a:lnSpc>
                <a:spcPts val="1570"/>
              </a:lnSpc>
            </a:pPr>
            <a:r>
              <a:rPr dirty="0" sz="1450" spc="-10">
                <a:solidFill>
                  <a:srgbClr val="DFE3E6"/>
                </a:solidFill>
                <a:latin typeface="Tahoma"/>
                <a:cs typeface="Tahoma"/>
              </a:rPr>
              <a:t>reports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2098039" y="7270495"/>
            <a:ext cx="967930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100"/>
              </a:spcBef>
            </a:pPr>
            <a:r>
              <a:rPr dirty="0" sz="1300" spc="-110" b="1">
                <a:solidFill>
                  <a:srgbClr val="DFE3E6"/>
                </a:solidFill>
                <a:latin typeface="Tahoma"/>
                <a:cs typeface="Tahoma"/>
              </a:rPr>
              <a:t>Data</a:t>
            </a:r>
            <a:r>
              <a:rPr dirty="0" sz="1300" spc="-190" b="1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300" spc="-100" b="1">
                <a:solidFill>
                  <a:srgbClr val="DFE3E6"/>
                </a:solidFill>
                <a:latin typeface="Tahoma"/>
                <a:cs typeface="Tahoma"/>
              </a:rPr>
              <a:t>flow:</a:t>
            </a:r>
            <a:r>
              <a:rPr dirty="0" sz="1300" spc="-220" b="1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DFE3E6"/>
                </a:solidFill>
                <a:latin typeface="Tahoma"/>
                <a:cs typeface="Tahoma"/>
              </a:rPr>
              <a:t>Students</a:t>
            </a:r>
            <a:r>
              <a:rPr dirty="0" sz="1300" spc="-50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DFE3E6"/>
                </a:solidFill>
                <a:latin typeface="Tahoma"/>
                <a:cs typeface="Tahoma"/>
              </a:rPr>
              <a:t>submit</a:t>
            </a:r>
            <a:r>
              <a:rPr dirty="0" sz="1300" spc="-35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DFE3E6"/>
                </a:solidFill>
                <a:latin typeface="Tahoma"/>
                <a:cs typeface="Tahoma"/>
              </a:rPr>
              <a:t>mobile</a:t>
            </a:r>
            <a:r>
              <a:rPr dirty="0" sz="1300" spc="-125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DFE3E6"/>
                </a:solidFill>
                <a:latin typeface="Tahoma"/>
                <a:cs typeface="Tahoma"/>
              </a:rPr>
              <a:t>registrations,</a:t>
            </a:r>
            <a:r>
              <a:rPr dirty="0" sz="1300" spc="25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DFE3E6"/>
                </a:solidFill>
                <a:latin typeface="Tahoma"/>
                <a:cs typeface="Tahoma"/>
              </a:rPr>
              <a:t>the</a:t>
            </a:r>
            <a:r>
              <a:rPr dirty="0" sz="1300" spc="-80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DFE3E6"/>
                </a:solidFill>
                <a:latin typeface="Tahoma"/>
                <a:cs typeface="Tahoma"/>
              </a:rPr>
              <a:t>prediction</a:t>
            </a:r>
            <a:r>
              <a:rPr dirty="0" sz="1300" spc="-90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300" spc="-25">
                <a:solidFill>
                  <a:srgbClr val="DFE3E6"/>
                </a:solidFill>
                <a:latin typeface="Tahoma"/>
                <a:cs typeface="Tahoma"/>
              </a:rPr>
              <a:t>engine</a:t>
            </a:r>
            <a:r>
              <a:rPr dirty="0" sz="1300" spc="-40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DFE3E6"/>
                </a:solidFill>
                <a:latin typeface="Tahoma"/>
                <a:cs typeface="Tahoma"/>
              </a:rPr>
              <a:t>processes</a:t>
            </a:r>
            <a:r>
              <a:rPr dirty="0" sz="1300" spc="-50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DFE3E6"/>
                </a:solidFill>
                <a:latin typeface="Tahoma"/>
                <a:cs typeface="Tahoma"/>
              </a:rPr>
              <a:t>weighted</a:t>
            </a:r>
            <a:r>
              <a:rPr dirty="0" sz="1300" spc="-60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DFE3E6"/>
                </a:solidFill>
                <a:latin typeface="Tahoma"/>
                <a:cs typeface="Tahoma"/>
              </a:rPr>
              <a:t>inputs, </a:t>
            </a:r>
            <a:r>
              <a:rPr dirty="0" sz="1300" spc="-40">
                <a:solidFill>
                  <a:srgbClr val="DFE3E6"/>
                </a:solidFill>
                <a:latin typeface="Tahoma"/>
                <a:cs typeface="Tahoma"/>
              </a:rPr>
              <a:t>and</a:t>
            </a:r>
            <a:r>
              <a:rPr dirty="0" sz="1300" spc="-65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DFE3E6"/>
                </a:solidFill>
                <a:latin typeface="Tahoma"/>
                <a:cs typeface="Tahoma"/>
              </a:rPr>
              <a:t>outputs</a:t>
            </a:r>
            <a:r>
              <a:rPr dirty="0" sz="1300" spc="-95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DFE3E6"/>
                </a:solidFill>
                <a:latin typeface="Tahoma"/>
                <a:cs typeface="Tahoma"/>
              </a:rPr>
              <a:t>flow</a:t>
            </a:r>
            <a:r>
              <a:rPr dirty="0" sz="1300" spc="-110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DFE3E6"/>
                </a:solidFill>
                <a:latin typeface="Tahoma"/>
                <a:cs typeface="Tahoma"/>
              </a:rPr>
              <a:t>to</a:t>
            </a:r>
            <a:r>
              <a:rPr dirty="0" sz="1300" spc="-65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DFE3E6"/>
                </a:solidFill>
                <a:latin typeface="Tahoma"/>
                <a:cs typeface="Tahoma"/>
              </a:rPr>
              <a:t>kitchen</a:t>
            </a:r>
            <a:r>
              <a:rPr dirty="0" sz="1300" spc="-90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DFE3E6"/>
                </a:solidFill>
                <a:latin typeface="Tahoma"/>
                <a:cs typeface="Tahoma"/>
              </a:rPr>
              <a:t>staff</a:t>
            </a:r>
            <a:r>
              <a:rPr dirty="0" sz="1300" spc="-70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300" spc="-25">
                <a:solidFill>
                  <a:srgbClr val="DFE3E6"/>
                </a:solidFill>
                <a:latin typeface="Tahoma"/>
                <a:cs typeface="Tahoma"/>
              </a:rPr>
              <a:t>and </a:t>
            </a:r>
            <a:r>
              <a:rPr dirty="0" sz="1300">
                <a:solidFill>
                  <a:srgbClr val="DFE3E6"/>
                </a:solidFill>
                <a:latin typeface="Tahoma"/>
                <a:cs typeface="Tahoma"/>
              </a:rPr>
              <a:t>administrators.</a:t>
            </a:r>
            <a:r>
              <a:rPr dirty="0" sz="1300" spc="-15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DFE3E6"/>
                </a:solidFill>
                <a:latin typeface="Tahoma"/>
                <a:cs typeface="Tahoma"/>
              </a:rPr>
              <a:t>SMS</a:t>
            </a:r>
            <a:r>
              <a:rPr dirty="0" sz="1300" spc="-90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DFE3E6"/>
                </a:solidFill>
                <a:latin typeface="Tahoma"/>
                <a:cs typeface="Tahoma"/>
              </a:rPr>
              <a:t>alerts</a:t>
            </a:r>
            <a:r>
              <a:rPr dirty="0" sz="1300" spc="-70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DFE3E6"/>
                </a:solidFill>
                <a:latin typeface="Tahoma"/>
                <a:cs typeface="Tahoma"/>
              </a:rPr>
              <a:t>are</a:t>
            </a:r>
            <a:r>
              <a:rPr dirty="0" sz="1300" spc="-105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DFE3E6"/>
                </a:solidFill>
                <a:latin typeface="Tahoma"/>
                <a:cs typeface="Tahoma"/>
              </a:rPr>
              <a:t>delivered</a:t>
            </a:r>
            <a:r>
              <a:rPr dirty="0" sz="1300" spc="-80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DFE3E6"/>
                </a:solidFill>
                <a:latin typeface="Tahoma"/>
                <a:cs typeface="Tahoma"/>
              </a:rPr>
              <a:t>to</a:t>
            </a:r>
            <a:r>
              <a:rPr dirty="0" sz="1300" spc="-125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DFE3E6"/>
                </a:solidFill>
                <a:latin typeface="Tahoma"/>
                <a:cs typeface="Tahoma"/>
              </a:rPr>
              <a:t>staff</a:t>
            </a:r>
            <a:r>
              <a:rPr dirty="0" sz="1300" spc="-85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300" spc="-25">
                <a:solidFill>
                  <a:srgbClr val="DFE3E6"/>
                </a:solidFill>
                <a:latin typeface="Tahoma"/>
                <a:cs typeface="Tahoma"/>
              </a:rPr>
              <a:t>through</a:t>
            </a:r>
            <a:r>
              <a:rPr dirty="0" sz="1300" spc="-70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DFE3E6"/>
                </a:solidFill>
                <a:latin typeface="Tahoma"/>
                <a:cs typeface="Tahoma"/>
              </a:rPr>
              <a:t>Twilio</a:t>
            </a:r>
            <a:r>
              <a:rPr dirty="0" sz="1300" spc="-40">
                <a:solidFill>
                  <a:srgbClr val="DFE3E6"/>
                </a:solidFill>
                <a:latin typeface="Tahoma"/>
                <a:cs typeface="Tahoma"/>
              </a:rPr>
              <a:t> when</a:t>
            </a:r>
            <a:r>
              <a:rPr dirty="0" sz="1300" spc="-105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300" spc="-25">
                <a:solidFill>
                  <a:srgbClr val="DFE3E6"/>
                </a:solidFill>
                <a:latin typeface="Tahoma"/>
                <a:cs typeface="Tahoma"/>
              </a:rPr>
              <a:t>demand</a:t>
            </a:r>
            <a:r>
              <a:rPr dirty="0" sz="1300" spc="-80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DFE3E6"/>
                </a:solidFill>
                <a:latin typeface="Tahoma"/>
                <a:cs typeface="Tahoma"/>
              </a:rPr>
              <a:t>changes</a:t>
            </a:r>
            <a:r>
              <a:rPr dirty="0" sz="1300" spc="-70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DFE3E6"/>
                </a:solidFill>
                <a:latin typeface="Tahoma"/>
                <a:cs typeface="Tahoma"/>
              </a:rPr>
              <a:t>require</a:t>
            </a:r>
            <a:r>
              <a:rPr dirty="0" sz="1300" spc="-105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DFE3E6"/>
                </a:solidFill>
                <a:latin typeface="Tahoma"/>
                <a:cs typeface="Tahoma"/>
              </a:rPr>
              <a:t>action.</a:t>
            </a:r>
            <a:endParaRPr sz="13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2440940">
              <a:lnSpc>
                <a:spcPct val="100000"/>
              </a:lnSpc>
              <a:spcBef>
                <a:spcPts val="114"/>
              </a:spcBef>
            </a:pPr>
            <a:r>
              <a:rPr dirty="0" spc="-45"/>
              <a:t>Thank</a:t>
            </a:r>
            <a:r>
              <a:rPr dirty="0" spc="-1005"/>
              <a:t> </a:t>
            </a:r>
            <a:r>
              <a:rPr dirty="0" spc="-1220"/>
              <a:t>Y</a:t>
            </a:r>
            <a:r>
              <a:rPr dirty="0" spc="-25"/>
              <a:t>ou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864108" y="3319271"/>
            <a:ext cx="12902565" cy="18415"/>
          </a:xfrm>
          <a:custGeom>
            <a:avLst/>
            <a:gdLst/>
            <a:ahLst/>
            <a:cxnLst/>
            <a:rect l="l" t="t" r="r" b="b"/>
            <a:pathLst>
              <a:path w="12902565" h="18414">
                <a:moveTo>
                  <a:pt x="12902184" y="0"/>
                </a:moveTo>
                <a:lnTo>
                  <a:pt x="0" y="0"/>
                </a:lnTo>
                <a:lnTo>
                  <a:pt x="0" y="18287"/>
                </a:lnTo>
                <a:lnTo>
                  <a:pt x="12902184" y="18287"/>
                </a:lnTo>
                <a:lnTo>
                  <a:pt x="12902184" y="0"/>
                </a:lnTo>
                <a:close/>
              </a:path>
            </a:pathLst>
          </a:custGeom>
          <a:solidFill>
            <a:srgbClr val="DFE3E6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851712" y="3893261"/>
            <a:ext cx="1990725" cy="4159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550" spc="-20" b="1">
                <a:solidFill>
                  <a:srgbClr val="EFFBFF"/>
                </a:solidFill>
                <a:latin typeface="Arial"/>
                <a:cs typeface="Arial"/>
              </a:rPr>
              <a:t>Team</a:t>
            </a:r>
            <a:r>
              <a:rPr dirty="0" sz="2550" spc="-155" b="1">
                <a:solidFill>
                  <a:srgbClr val="EFFBFF"/>
                </a:solidFill>
                <a:latin typeface="Arial"/>
                <a:cs typeface="Arial"/>
              </a:rPr>
              <a:t> </a:t>
            </a:r>
            <a:r>
              <a:rPr dirty="0" sz="2550" spc="-10" b="1">
                <a:solidFill>
                  <a:srgbClr val="EFFBFF"/>
                </a:solidFill>
                <a:latin typeface="Arial"/>
                <a:cs typeface="Arial"/>
              </a:rPr>
              <a:t>Leader</a:t>
            </a:r>
            <a:endParaRPr sz="255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51712" y="4625162"/>
            <a:ext cx="1116965" cy="3168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900">
                <a:solidFill>
                  <a:srgbClr val="DFE3E6"/>
                </a:solidFill>
                <a:latin typeface="Tahoma"/>
                <a:cs typeface="Tahoma"/>
              </a:rPr>
              <a:t>Anil</a:t>
            </a:r>
            <a:r>
              <a:rPr dirty="0" sz="1900" spc="-215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 spc="-20">
                <a:solidFill>
                  <a:srgbClr val="DFE3E6"/>
                </a:solidFill>
                <a:latin typeface="Tahoma"/>
                <a:cs typeface="Tahoma"/>
              </a:rPr>
              <a:t>Mahto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7613650" y="3893261"/>
            <a:ext cx="2364105" cy="4159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550" spc="-20" b="1">
                <a:solidFill>
                  <a:srgbClr val="EFFBFF"/>
                </a:solidFill>
                <a:latin typeface="Arial"/>
                <a:cs typeface="Arial"/>
              </a:rPr>
              <a:t>Team</a:t>
            </a:r>
            <a:r>
              <a:rPr dirty="0" sz="2550" spc="-155" b="1">
                <a:solidFill>
                  <a:srgbClr val="EFFBFF"/>
                </a:solidFill>
                <a:latin typeface="Arial"/>
                <a:cs typeface="Arial"/>
              </a:rPr>
              <a:t> </a:t>
            </a:r>
            <a:r>
              <a:rPr dirty="0" sz="2550" spc="-10" b="1">
                <a:solidFill>
                  <a:srgbClr val="EFFBFF"/>
                </a:solidFill>
                <a:latin typeface="Arial"/>
                <a:cs typeface="Arial"/>
              </a:rPr>
              <a:t>Members</a:t>
            </a:r>
            <a:endParaRPr sz="255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7613650" y="4625162"/>
            <a:ext cx="1523365" cy="3168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900" spc="-25">
                <a:solidFill>
                  <a:srgbClr val="DFE3E6"/>
                </a:solidFill>
                <a:latin typeface="Tahoma"/>
                <a:cs typeface="Tahoma"/>
              </a:rPr>
              <a:t>Sourav</a:t>
            </a:r>
            <a:r>
              <a:rPr dirty="0" sz="1900" spc="-204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DFE3E6"/>
                </a:solidFill>
                <a:latin typeface="Tahoma"/>
                <a:cs typeface="Tahoma"/>
              </a:rPr>
              <a:t>Suman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7613650" y="5242636"/>
            <a:ext cx="1458595" cy="93471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900" spc="-45">
                <a:solidFill>
                  <a:srgbClr val="DFE3E6"/>
                </a:solidFill>
                <a:latin typeface="Tahoma"/>
                <a:cs typeface="Tahoma"/>
              </a:rPr>
              <a:t>Ayan</a:t>
            </a:r>
            <a:r>
              <a:rPr dirty="0" sz="1900" spc="-210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DFE3E6"/>
                </a:solidFill>
                <a:latin typeface="Tahoma"/>
                <a:cs typeface="Tahoma"/>
              </a:rPr>
              <a:t>Parwez</a:t>
            </a:r>
            <a:endParaRPr sz="1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90"/>
              </a:spcBef>
            </a:pPr>
            <a:endParaRPr sz="19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900" spc="-35">
                <a:solidFill>
                  <a:srgbClr val="DFE3E6"/>
                </a:solidFill>
                <a:latin typeface="Tahoma"/>
                <a:cs typeface="Tahoma"/>
              </a:rPr>
              <a:t>Rajveer</a:t>
            </a:r>
            <a:r>
              <a:rPr dirty="0" sz="1900" spc="-160">
                <a:solidFill>
                  <a:srgbClr val="DFE3E6"/>
                </a:solidFill>
                <a:latin typeface="Tahoma"/>
                <a:cs typeface="Tahoma"/>
              </a:rPr>
              <a:t> </a:t>
            </a:r>
            <a:r>
              <a:rPr dirty="0" sz="1900" spc="-20">
                <a:solidFill>
                  <a:srgbClr val="DFE3E6"/>
                </a:solidFill>
                <a:latin typeface="Tahoma"/>
                <a:cs typeface="Tahoma"/>
              </a:rPr>
              <a:t>Singh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864108" y="6771131"/>
            <a:ext cx="12902565" cy="18415"/>
          </a:xfrm>
          <a:custGeom>
            <a:avLst/>
            <a:gdLst/>
            <a:ahLst/>
            <a:cxnLst/>
            <a:rect l="l" t="t" r="r" b="b"/>
            <a:pathLst>
              <a:path w="12902565" h="18415">
                <a:moveTo>
                  <a:pt x="12902184" y="0"/>
                </a:moveTo>
                <a:lnTo>
                  <a:pt x="0" y="0"/>
                </a:lnTo>
                <a:lnTo>
                  <a:pt x="0" y="18288"/>
                </a:lnTo>
                <a:lnTo>
                  <a:pt x="12902184" y="18288"/>
                </a:lnTo>
                <a:lnTo>
                  <a:pt x="12902184" y="0"/>
                </a:lnTo>
                <a:close/>
              </a:path>
            </a:pathLst>
          </a:custGeom>
          <a:solidFill>
            <a:srgbClr val="DFE3E6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5914771" y="7175703"/>
            <a:ext cx="2802890" cy="3162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sng" sz="19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ahoma"/>
                <a:cs typeface="Tahoma"/>
                <a:hlinkClick r:id="rId2"/>
              </a:rPr>
              <a:t>View</a:t>
            </a:r>
            <a:r>
              <a:rPr dirty="0" u="sng" sz="1900" spc="-17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ahoma"/>
                <a:cs typeface="Tahoma"/>
                <a:hlinkClick r:id="rId2"/>
              </a:rPr>
              <a:t> </a:t>
            </a:r>
            <a:r>
              <a:rPr dirty="0" u="sng" sz="1900" spc="-2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ahoma"/>
                <a:cs typeface="Tahoma"/>
                <a:hlinkClick r:id="rId2"/>
              </a:rPr>
              <a:t>our</a:t>
            </a:r>
            <a:r>
              <a:rPr dirty="0" u="sng" sz="1900" spc="-2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ahoma"/>
                <a:cs typeface="Tahoma"/>
                <a:hlinkClick r:id="rId2"/>
              </a:rPr>
              <a:t> </a:t>
            </a:r>
            <a:r>
              <a:rPr dirty="0" u="sng" sz="190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ahoma"/>
                <a:cs typeface="Tahoma"/>
                <a:hlinkClick r:id="rId2"/>
              </a:rPr>
              <a:t>project</a:t>
            </a:r>
            <a:r>
              <a:rPr dirty="0" u="sng" sz="1900" spc="-2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ahoma"/>
                <a:cs typeface="Tahoma"/>
                <a:hlinkClick r:id="rId2"/>
              </a:rPr>
              <a:t> </a:t>
            </a:r>
            <a:r>
              <a:rPr dirty="0" u="sng" sz="1900" spc="-3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ahoma"/>
                <a:cs typeface="Tahoma"/>
                <a:hlinkClick r:id="rId2"/>
              </a:rPr>
              <a:t>on</a:t>
            </a:r>
            <a:r>
              <a:rPr dirty="0" u="sng" sz="1900" spc="-18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ahoma"/>
                <a:cs typeface="Tahoma"/>
                <a:hlinkClick r:id="rId2"/>
              </a:rPr>
              <a:t> </a:t>
            </a:r>
            <a:r>
              <a:rPr dirty="0" u="sng" sz="19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ahoma"/>
                <a:cs typeface="Tahoma"/>
                <a:hlinkClick r:id="rId2"/>
              </a:rPr>
              <a:t>GitHub</a:t>
            </a:r>
            <a:endParaRPr sz="19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2026-04-17T12:38:26Z</dcterms:created>
  <dcterms:modified xsi:type="dcterms:W3CDTF">2026-04-17T12:38:26Z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2026-04-17T00:00:00Z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2026-04-17T00:00:00Z</vt:filetime>
  </property>
  <property fmtid="{D5CDD505-2E9C-101B-9397-08002B2CF9AE}" pid="5" name="Producer">
    <vt:lpwstr>www.ilovepdf.com</vt:lpwstr>
  </property>
</Properties>
</file>